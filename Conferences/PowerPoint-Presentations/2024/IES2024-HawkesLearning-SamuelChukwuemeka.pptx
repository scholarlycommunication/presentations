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0" r:id="rId4"/>
  </p:sldMasterIdLst>
  <p:notesMasterIdLst>
    <p:notesMasterId r:id="rId40"/>
  </p:notesMasterIdLst>
  <p:sldIdLst>
    <p:sldId id="256" r:id="rId5"/>
    <p:sldId id="258"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285" r:id="rId39"/>
  </p:sldIdLst>
  <p:sldSz cx="19010313"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60" userDrawn="1">
          <p15:clr>
            <a:srgbClr val="A4A3A4"/>
          </p15:clr>
        </p15:guide>
        <p15:guide id="2" pos="6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100"/>
    <a:srgbClr val="FFB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6" d="100"/>
          <a:sy n="56" d="100"/>
        </p:scale>
        <p:origin x="514" y="48"/>
      </p:cViewPr>
      <p:guideLst>
        <p:guide orient="horz" pos="2360"/>
        <p:guide pos="6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2BF3456-A29E-41FE-BFB7-B24F24BEE47B}" type="datetimeFigureOut">
              <a:rPr lang="cs-CZ" smtClean="0"/>
              <a:t>11.10.2024</a:t>
            </a:fld>
            <a:endParaRPr lang="cs-CZ"/>
          </a:p>
        </p:txBody>
      </p:sp>
      <p:sp>
        <p:nvSpPr>
          <p:cNvPr id="4" name="Slide Image Placeholder 3"/>
          <p:cNvSpPr>
            <a:spLocks noGrp="1" noRot="1" noChangeAspect="1"/>
          </p:cNvSpPr>
          <p:nvPr>
            <p:ph type="sldImg" idx="2"/>
          </p:nvPr>
        </p:nvSpPr>
        <p:spPr>
          <a:xfrm>
            <a:off x="571500" y="1336675"/>
            <a:ext cx="6413500" cy="3608388"/>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DD95B543-0236-4AEE-9F15-C7CF1150485F}" type="slidenum">
              <a:rPr lang="cs-CZ" smtClean="0"/>
              <a:t>‹#›</a:t>
            </a:fld>
            <a:endParaRPr lang="cs-CZ"/>
          </a:p>
        </p:txBody>
      </p:sp>
    </p:spTree>
    <p:extLst>
      <p:ext uri="{BB962C8B-B14F-4D97-AF65-F5344CB8AC3E}">
        <p14:creationId xmlns:p14="http://schemas.microsoft.com/office/powerpoint/2010/main" val="5225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a:p>
        </p:txBody>
      </p:sp>
      <p:sp>
        <p:nvSpPr>
          <p:cNvPr id="4" name="Slide Number Placeholder 3"/>
          <p:cNvSpPr>
            <a:spLocks noGrp="1"/>
          </p:cNvSpPr>
          <p:nvPr>
            <p:ph type="sldNum" sz="quarter" idx="5"/>
          </p:nvPr>
        </p:nvSpPr>
        <p:spPr/>
        <p:txBody>
          <a:bodyPr/>
          <a:lstStyle/>
          <a:p>
            <a:fld id="{DD95B543-0236-4AEE-9F15-C7CF1150485F}" type="slidenum">
              <a:rPr lang="cs-CZ" smtClean="0"/>
              <a:t>1</a:t>
            </a:fld>
            <a:endParaRPr lang="cs-CZ"/>
          </a:p>
        </p:txBody>
      </p:sp>
    </p:spTree>
    <p:extLst>
      <p:ext uri="{BB962C8B-B14F-4D97-AF65-F5344CB8AC3E}">
        <p14:creationId xmlns:p14="http://schemas.microsoft.com/office/powerpoint/2010/main" val="440733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76289" y="1750055"/>
            <a:ext cx="14257735" cy="3722887"/>
          </a:xfrm>
        </p:spPr>
        <p:txBody>
          <a:bodyPr anchor="b"/>
          <a:lstStyle>
            <a:lvl1pPr algn="ctr">
              <a:defRPr sz="9355"/>
            </a:lvl1pPr>
          </a:lstStyle>
          <a:p>
            <a:r>
              <a:rPr lang="en-US"/>
              <a:t>Click to edit Master title style</a:t>
            </a:r>
          </a:p>
        </p:txBody>
      </p:sp>
      <p:sp>
        <p:nvSpPr>
          <p:cNvPr id="3" name="Subtitle 2"/>
          <p:cNvSpPr>
            <a:spLocks noGrp="1"/>
          </p:cNvSpPr>
          <p:nvPr>
            <p:ph type="subTitle" idx="1"/>
          </p:nvPr>
        </p:nvSpPr>
        <p:spPr>
          <a:xfrm>
            <a:off x="2376289" y="5616511"/>
            <a:ext cx="14257735" cy="2581762"/>
          </a:xfrm>
        </p:spPr>
        <p:txBody>
          <a:bodyPr/>
          <a:lstStyle>
            <a:lvl1pPr marL="0" indent="0" algn="ctr">
              <a:buNone/>
              <a:defRPr sz="3742"/>
            </a:lvl1pPr>
            <a:lvl2pPr marL="712866" indent="0" algn="ctr">
              <a:buNone/>
              <a:defRPr sz="3118"/>
            </a:lvl2pPr>
            <a:lvl3pPr marL="1425732" indent="0" algn="ctr">
              <a:buNone/>
              <a:defRPr sz="2807"/>
            </a:lvl3pPr>
            <a:lvl4pPr marL="2138599" indent="0" algn="ctr">
              <a:buNone/>
              <a:defRPr sz="2495"/>
            </a:lvl4pPr>
            <a:lvl5pPr marL="2851465" indent="0" algn="ctr">
              <a:buNone/>
              <a:defRPr sz="2495"/>
            </a:lvl5pPr>
            <a:lvl6pPr marL="3564331" indent="0" algn="ctr">
              <a:buNone/>
              <a:defRPr sz="2495"/>
            </a:lvl6pPr>
            <a:lvl7pPr marL="4277197" indent="0" algn="ctr">
              <a:buNone/>
              <a:defRPr sz="2495"/>
            </a:lvl7pPr>
            <a:lvl8pPr marL="4990064" indent="0" algn="ctr">
              <a:buNone/>
              <a:defRPr sz="2495"/>
            </a:lvl8pPr>
            <a:lvl9pPr marL="5702930" indent="0" algn="ctr">
              <a:buNone/>
              <a:defRPr sz="2495"/>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32969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3954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7058" y="2665925"/>
            <a:ext cx="16396395" cy="4448157"/>
          </a:xfrm>
        </p:spPr>
        <p:txBody>
          <a:bodyPr anchor="b"/>
          <a:lstStyle>
            <a:lvl1pPr>
              <a:defRPr sz="9355"/>
            </a:lvl1pPr>
          </a:lstStyle>
          <a:p>
            <a:r>
              <a:rPr lang="en-US"/>
              <a:t>Click to edit Master title style</a:t>
            </a:r>
          </a:p>
        </p:txBody>
      </p:sp>
      <p:sp>
        <p:nvSpPr>
          <p:cNvPr id="3" name="Text Placeholder 2"/>
          <p:cNvSpPr>
            <a:spLocks noGrp="1"/>
          </p:cNvSpPr>
          <p:nvPr>
            <p:ph type="body" idx="1"/>
          </p:nvPr>
        </p:nvSpPr>
        <p:spPr>
          <a:xfrm>
            <a:off x="1297058" y="7156164"/>
            <a:ext cx="16396395" cy="2339180"/>
          </a:xfrm>
        </p:spPr>
        <p:txBody>
          <a:bodyPr/>
          <a:lstStyle>
            <a:lvl1pPr marL="0" indent="0">
              <a:buNone/>
              <a:defRPr sz="3742">
                <a:solidFill>
                  <a:schemeClr val="tx1">
                    <a:tint val="75000"/>
                  </a:schemeClr>
                </a:solidFill>
              </a:defRPr>
            </a:lvl1pPr>
            <a:lvl2pPr marL="712866" indent="0">
              <a:buNone/>
              <a:defRPr sz="3118">
                <a:solidFill>
                  <a:schemeClr val="tx1">
                    <a:tint val="75000"/>
                  </a:schemeClr>
                </a:solidFill>
              </a:defRPr>
            </a:lvl2pPr>
            <a:lvl3pPr marL="1425732" indent="0">
              <a:buNone/>
              <a:defRPr sz="2807">
                <a:solidFill>
                  <a:schemeClr val="tx1">
                    <a:tint val="75000"/>
                  </a:schemeClr>
                </a:solidFill>
              </a:defRPr>
            </a:lvl3pPr>
            <a:lvl4pPr marL="2138599" indent="0">
              <a:buNone/>
              <a:defRPr sz="2495">
                <a:solidFill>
                  <a:schemeClr val="tx1">
                    <a:tint val="75000"/>
                  </a:schemeClr>
                </a:solidFill>
              </a:defRPr>
            </a:lvl4pPr>
            <a:lvl5pPr marL="2851465" indent="0">
              <a:buNone/>
              <a:defRPr sz="2495">
                <a:solidFill>
                  <a:schemeClr val="tx1">
                    <a:tint val="75000"/>
                  </a:schemeClr>
                </a:solidFill>
              </a:defRPr>
            </a:lvl5pPr>
            <a:lvl6pPr marL="3564331" indent="0">
              <a:buNone/>
              <a:defRPr sz="2495">
                <a:solidFill>
                  <a:schemeClr val="tx1">
                    <a:tint val="75000"/>
                  </a:schemeClr>
                </a:solidFill>
              </a:defRPr>
            </a:lvl6pPr>
            <a:lvl7pPr marL="4277197" indent="0">
              <a:buNone/>
              <a:defRPr sz="2495">
                <a:solidFill>
                  <a:schemeClr val="tx1">
                    <a:tint val="75000"/>
                  </a:schemeClr>
                </a:solidFill>
              </a:defRPr>
            </a:lvl7pPr>
            <a:lvl8pPr marL="4990064" indent="0">
              <a:buNone/>
              <a:defRPr sz="2495">
                <a:solidFill>
                  <a:schemeClr val="tx1">
                    <a:tint val="75000"/>
                  </a:schemeClr>
                </a:solidFill>
              </a:defRPr>
            </a:lvl8pPr>
            <a:lvl9pPr marL="5702930" indent="0">
              <a:buNone/>
              <a:defRPr sz="2495">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17231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06959" y="2846623"/>
            <a:ext cx="8079383" cy="67848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623971" y="2846623"/>
            <a:ext cx="8079383" cy="67848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7957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9435" y="569326"/>
            <a:ext cx="16396395" cy="2066896"/>
          </a:xfrm>
        </p:spPr>
        <p:txBody>
          <a:bodyPr/>
          <a:lstStyle/>
          <a:p>
            <a:r>
              <a:rPr lang="en-US"/>
              <a:t>Click to edit Master title style</a:t>
            </a:r>
          </a:p>
        </p:txBody>
      </p:sp>
      <p:sp>
        <p:nvSpPr>
          <p:cNvPr id="3" name="Text Placeholder 2"/>
          <p:cNvSpPr>
            <a:spLocks noGrp="1"/>
          </p:cNvSpPr>
          <p:nvPr>
            <p:ph type="body" idx="1"/>
          </p:nvPr>
        </p:nvSpPr>
        <p:spPr>
          <a:xfrm>
            <a:off x="1309436" y="2621369"/>
            <a:ext cx="8042253"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Edit Master text styles</a:t>
            </a:r>
          </a:p>
        </p:txBody>
      </p:sp>
      <p:sp>
        <p:nvSpPr>
          <p:cNvPr id="4" name="Content Placeholder 3"/>
          <p:cNvSpPr>
            <a:spLocks noGrp="1"/>
          </p:cNvSpPr>
          <p:nvPr>
            <p:ph sz="half" idx="2"/>
          </p:nvPr>
        </p:nvSpPr>
        <p:spPr>
          <a:xfrm>
            <a:off x="1309436" y="3906061"/>
            <a:ext cx="8042253" cy="5745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623971" y="2621369"/>
            <a:ext cx="8081859"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Edit Master text styles</a:t>
            </a:r>
          </a:p>
        </p:txBody>
      </p:sp>
      <p:sp>
        <p:nvSpPr>
          <p:cNvPr id="6" name="Content Placeholder 5"/>
          <p:cNvSpPr>
            <a:spLocks noGrp="1"/>
          </p:cNvSpPr>
          <p:nvPr>
            <p:ph sz="quarter" idx="4"/>
          </p:nvPr>
        </p:nvSpPr>
        <p:spPr>
          <a:xfrm>
            <a:off x="9623971" y="3906061"/>
            <a:ext cx="8081859" cy="5745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29077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90662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632000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p>
        </p:txBody>
      </p:sp>
      <p:sp>
        <p:nvSpPr>
          <p:cNvPr id="3" name="Content Placeholder 2"/>
          <p:cNvSpPr>
            <a:spLocks noGrp="1"/>
          </p:cNvSpPr>
          <p:nvPr>
            <p:ph idx="1"/>
          </p:nvPr>
        </p:nvSpPr>
        <p:spPr>
          <a:xfrm>
            <a:off x="8081859" y="1539652"/>
            <a:ext cx="9623971" cy="7599245"/>
          </a:xfrm>
        </p:spPr>
        <p:txBody>
          <a:bodyPr/>
          <a:lstStyle>
            <a:lvl1pPr>
              <a:defRPr sz="4989"/>
            </a:lvl1pPr>
            <a:lvl2pPr>
              <a:defRPr sz="4366"/>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440046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p>
        </p:txBody>
      </p:sp>
      <p:sp>
        <p:nvSpPr>
          <p:cNvPr id="3" name="Picture Placeholder 2"/>
          <p:cNvSpPr>
            <a:spLocks noGrp="1" noChangeAspect="1"/>
          </p:cNvSpPr>
          <p:nvPr>
            <p:ph type="pic" idx="1"/>
          </p:nvPr>
        </p:nvSpPr>
        <p:spPr>
          <a:xfrm>
            <a:off x="8081859" y="1539652"/>
            <a:ext cx="9623971" cy="7599245"/>
          </a:xfrm>
        </p:spPr>
        <p:txBody>
          <a:bodyPr anchor="t"/>
          <a:lstStyle>
            <a:lvl1pPr marL="0" indent="0">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78924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30830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04255" y="569325"/>
            <a:ext cx="4099099" cy="90621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06959" y="569325"/>
            <a:ext cx="12059667" cy="90621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10/11/2024</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52863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06959" y="569326"/>
            <a:ext cx="16396395"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306959" y="2846623"/>
            <a:ext cx="16396395" cy="678486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06959" y="9911198"/>
            <a:ext cx="4277320" cy="569325"/>
          </a:xfrm>
          <a:prstGeom prst="rect">
            <a:avLst/>
          </a:prstGeom>
        </p:spPr>
        <p:txBody>
          <a:bodyPr vert="horz" lIns="91440" tIns="45720" rIns="91440" bIns="45720" rtlCol="0" anchor="ctr"/>
          <a:lstStyle>
            <a:lvl1pPr algn="l">
              <a:defRPr sz="1871">
                <a:solidFill>
                  <a:schemeClr val="tx1">
                    <a:tint val="75000"/>
                  </a:schemeClr>
                </a:solidFill>
              </a:defRPr>
            </a:lvl1pPr>
          </a:lstStyle>
          <a:p>
            <a:fld id="{1D8BD707-D9CF-40AE-B4C6-C98DA3205C09}" type="datetimeFigureOut">
              <a:rPr lang="en-US" smtClean="0"/>
              <a:t>10/11/2024</a:t>
            </a:fld>
            <a:endParaRPr lang="en-US" dirty="0"/>
          </a:p>
        </p:txBody>
      </p:sp>
      <p:sp>
        <p:nvSpPr>
          <p:cNvPr id="5" name="Footer Placeholder 4"/>
          <p:cNvSpPr>
            <a:spLocks noGrp="1"/>
          </p:cNvSpPr>
          <p:nvPr>
            <p:ph type="ftr" sz="quarter" idx="3"/>
          </p:nvPr>
        </p:nvSpPr>
        <p:spPr>
          <a:xfrm>
            <a:off x="6297166" y="9911198"/>
            <a:ext cx="6415981" cy="569325"/>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cs-CZ"/>
          </a:p>
        </p:txBody>
      </p:sp>
      <p:sp>
        <p:nvSpPr>
          <p:cNvPr id="6" name="Slide Number Placeholder 5"/>
          <p:cNvSpPr>
            <a:spLocks noGrp="1"/>
          </p:cNvSpPr>
          <p:nvPr>
            <p:ph type="sldNum" sz="quarter" idx="4"/>
          </p:nvPr>
        </p:nvSpPr>
        <p:spPr>
          <a:xfrm>
            <a:off x="13426034" y="9911198"/>
            <a:ext cx="4277320" cy="569325"/>
          </a:xfrm>
          <a:prstGeom prst="rect">
            <a:avLst/>
          </a:prstGeom>
        </p:spPr>
        <p:txBody>
          <a:bodyPr vert="horz" lIns="91440" tIns="45720" rIns="91440" bIns="45720" rtlCol="0" anchor="ctr"/>
          <a:lstStyle>
            <a:lvl1pPr algn="r">
              <a:defRPr sz="1871">
                <a:solidFill>
                  <a:schemeClr val="tx1">
                    <a:tint val="75000"/>
                  </a:schemeClr>
                </a:solidFill>
              </a:defRPr>
            </a:lvl1pPr>
          </a:lstStyle>
          <a:p>
            <a:fld id="{B6F15528-21DE-4FAA-801E-634DDDAF4B2B}" type="slidenum">
              <a:rPr lang="cs-CZ" smtClean="0"/>
              <a:t>‹#›</a:t>
            </a:fld>
            <a:endParaRPr lang="cs-CZ"/>
          </a:p>
        </p:txBody>
      </p:sp>
    </p:spTree>
    <p:extLst>
      <p:ext uri="{BB962C8B-B14F-4D97-AF65-F5344CB8AC3E}">
        <p14:creationId xmlns:p14="http://schemas.microsoft.com/office/powerpoint/2010/main" val="27116026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1425732"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433" indent="-356433" algn="l" defTabSz="1425732" rtl="0" eaLnBrk="1" latinLnBrk="0" hangingPunct="1">
        <a:lnSpc>
          <a:spcPct val="90000"/>
        </a:lnSpc>
        <a:spcBef>
          <a:spcPts val="1559"/>
        </a:spcBef>
        <a:buFont typeface="Arial" panose="020B0604020202020204" pitchFamily="34" charset="0"/>
        <a:buChar char="•"/>
        <a:defRPr sz="4366" kern="1200">
          <a:solidFill>
            <a:schemeClr val="tx1"/>
          </a:solidFill>
          <a:latin typeface="+mn-lt"/>
          <a:ea typeface="+mn-ea"/>
          <a:cs typeface="+mn-cs"/>
        </a:defRPr>
      </a:lvl1pPr>
      <a:lvl2pPr marL="1069299" indent="-356433" algn="l" defTabSz="1425732"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2166" indent="-356433" algn="l" defTabSz="1425732"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5032"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4pPr>
      <a:lvl5pPr marL="3207898"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5pPr>
      <a:lvl6pPr marL="3920764"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6pPr>
      <a:lvl7pPr marL="4633631"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7pPr>
      <a:lvl8pPr marL="5346497"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8pPr>
      <a:lvl9pPr marL="6059363"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9pPr>
    </p:bodyStyle>
    <p:otherStyle>
      <a:defPPr>
        <a:defRPr lang="en-US"/>
      </a:defPPr>
      <a:lvl1pPr marL="0" algn="l" defTabSz="1425732" rtl="0" eaLnBrk="1" latinLnBrk="0" hangingPunct="1">
        <a:defRPr sz="2807" kern="1200">
          <a:solidFill>
            <a:schemeClr val="tx1"/>
          </a:solidFill>
          <a:latin typeface="+mn-lt"/>
          <a:ea typeface="+mn-ea"/>
          <a:cs typeface="+mn-cs"/>
        </a:defRPr>
      </a:lvl1pPr>
      <a:lvl2pPr marL="712866" algn="l" defTabSz="1425732" rtl="0" eaLnBrk="1" latinLnBrk="0" hangingPunct="1">
        <a:defRPr sz="2807" kern="1200">
          <a:solidFill>
            <a:schemeClr val="tx1"/>
          </a:solidFill>
          <a:latin typeface="+mn-lt"/>
          <a:ea typeface="+mn-ea"/>
          <a:cs typeface="+mn-cs"/>
        </a:defRPr>
      </a:lvl2pPr>
      <a:lvl3pPr marL="1425732" algn="l" defTabSz="1425732" rtl="0" eaLnBrk="1" latinLnBrk="0" hangingPunct="1">
        <a:defRPr sz="2807" kern="1200">
          <a:solidFill>
            <a:schemeClr val="tx1"/>
          </a:solidFill>
          <a:latin typeface="+mn-lt"/>
          <a:ea typeface="+mn-ea"/>
          <a:cs typeface="+mn-cs"/>
        </a:defRPr>
      </a:lvl3pPr>
      <a:lvl4pPr marL="2138599" algn="l" defTabSz="1425732" rtl="0" eaLnBrk="1" latinLnBrk="0" hangingPunct="1">
        <a:defRPr sz="2807" kern="1200">
          <a:solidFill>
            <a:schemeClr val="tx1"/>
          </a:solidFill>
          <a:latin typeface="+mn-lt"/>
          <a:ea typeface="+mn-ea"/>
          <a:cs typeface="+mn-cs"/>
        </a:defRPr>
      </a:lvl4pPr>
      <a:lvl5pPr marL="2851465" algn="l" defTabSz="1425732" rtl="0" eaLnBrk="1" latinLnBrk="0" hangingPunct="1">
        <a:defRPr sz="2807" kern="1200">
          <a:solidFill>
            <a:schemeClr val="tx1"/>
          </a:solidFill>
          <a:latin typeface="+mn-lt"/>
          <a:ea typeface="+mn-ea"/>
          <a:cs typeface="+mn-cs"/>
        </a:defRPr>
      </a:lvl5pPr>
      <a:lvl6pPr marL="3564331" algn="l" defTabSz="1425732" rtl="0" eaLnBrk="1" latinLnBrk="0" hangingPunct="1">
        <a:defRPr sz="2807" kern="1200">
          <a:solidFill>
            <a:schemeClr val="tx1"/>
          </a:solidFill>
          <a:latin typeface="+mn-lt"/>
          <a:ea typeface="+mn-ea"/>
          <a:cs typeface="+mn-cs"/>
        </a:defRPr>
      </a:lvl6pPr>
      <a:lvl7pPr marL="4277197" algn="l" defTabSz="1425732" rtl="0" eaLnBrk="1" latinLnBrk="0" hangingPunct="1">
        <a:defRPr sz="2807" kern="1200">
          <a:solidFill>
            <a:schemeClr val="tx1"/>
          </a:solidFill>
          <a:latin typeface="+mn-lt"/>
          <a:ea typeface="+mn-ea"/>
          <a:cs typeface="+mn-cs"/>
        </a:defRPr>
      </a:lvl7pPr>
      <a:lvl8pPr marL="4990064" algn="l" defTabSz="1425732" rtl="0" eaLnBrk="1" latinLnBrk="0" hangingPunct="1">
        <a:defRPr sz="2807" kern="1200">
          <a:solidFill>
            <a:schemeClr val="tx1"/>
          </a:solidFill>
          <a:latin typeface="+mn-lt"/>
          <a:ea typeface="+mn-ea"/>
          <a:cs typeface="+mn-cs"/>
        </a:defRPr>
      </a:lvl8pPr>
      <a:lvl9pPr marL="5702930" algn="l" defTabSz="1425732" rtl="0" eaLnBrk="1" latinLnBrk="0" hangingPunct="1">
        <a:defRPr sz="28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conferencepresentations.appspot.com/" TargetMode="Externa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courses.vccs.edu/courses/MTH111-BasicTechnicalMathematics" TargetMode="External"/><Relationship Id="rId2" Type="http://schemas.openxmlformats.org/officeDocument/2006/relationships/hyperlink" Target="https://conferencepresentations.appspot.com/Projects/ArithmeticAlgebra/NumberTheory/Projects-ISBN.html"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courses.vccs.edu/courses/MTH154-QuantitativeReasoning/detail" TargetMode="External"/><Relationship Id="rId2" Type="http://schemas.openxmlformats.org/officeDocument/2006/relationships/hyperlink" Target="https://courses.vccs.edu/courses/MTH133-MathematicsforHealthProfessions" TargetMode="External"/><Relationship Id="rId1" Type="http://schemas.openxmlformats.org/officeDocument/2006/relationships/slideLayout" Target="../slideLayouts/slideLayout7.xml"/><Relationship Id="rId5" Type="http://schemas.openxmlformats.org/officeDocument/2006/relationships/hyperlink" Target="https://www.stjohns.edu/sites/default/files/2021-08/New_Federal_Requirements_for_Distance_Education.pdf" TargetMode="External"/><Relationship Id="rId4" Type="http://schemas.openxmlformats.org/officeDocument/2006/relationships/hyperlink" Target="https://www.federalregister.gov/documents/2020/09/02/2020-18636/distance-education-and-innovati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conferencepresentations.appspot.com/Projects/ArithmeticAlgebra/NumberTheory/Projects-ISBN.html#studentsProject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courses.vccs.edu/courses/MTH132-BusinessMathematics" TargetMode="External"/><Relationship Id="rId2" Type="http://schemas.openxmlformats.org/officeDocument/2006/relationships/hyperlink" Target="https://conferencepresentations.appspot.com/Projects/ArithmeticAlgebra/Receipts.html" TargetMode="External"/><Relationship Id="rId1" Type="http://schemas.openxmlformats.org/officeDocument/2006/relationships/slideLayout" Target="../slideLayouts/slideLayout7.xml"/><Relationship Id="rId5" Type="http://schemas.openxmlformats.org/officeDocument/2006/relationships/hyperlink" Target="https://courses.vccs.edu/courses/MTH154-QuantitativeReasoning/detail" TargetMode="External"/><Relationship Id="rId4" Type="http://schemas.openxmlformats.org/officeDocument/2006/relationships/hyperlink" Target="https://courses.vccs.edu/courses/MTH133-MathematicsforHealthProfession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stjohns.edu/sites/default/files/2021-08/New_Federal_Requirements_for_Distance_Education.pdf" TargetMode="External"/><Relationship Id="rId2" Type="http://schemas.openxmlformats.org/officeDocument/2006/relationships/hyperlink" Target="https://www.federalregister.gov/documents/2020/09/02/2020-18636/distance-education-and-innovation"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courses.vccs.edu/courses/MTH111-BasicTechnicalMathematics" TargetMode="External"/><Relationship Id="rId2" Type="http://schemas.openxmlformats.org/officeDocument/2006/relationships/hyperlink" Target="https://conferencepresentations.appspot.com/Projects/ArithmeticAlgebra/MeasurementsUnits.html" TargetMode="External"/><Relationship Id="rId1" Type="http://schemas.openxmlformats.org/officeDocument/2006/relationships/slideLayout" Target="../slideLayouts/slideLayout7.xml"/><Relationship Id="rId6" Type="http://schemas.openxmlformats.org/officeDocument/2006/relationships/hyperlink" Target="https://courses.vccs.edu/courses/MTH133-MathematicsforHealthProfessions" TargetMode="External"/><Relationship Id="rId5" Type="http://schemas.openxmlformats.org/officeDocument/2006/relationships/hyperlink" Target="https://courses.vccs.edu/courses/MTH131-TechnicalMathematics" TargetMode="External"/><Relationship Id="rId4" Type="http://schemas.openxmlformats.org/officeDocument/2006/relationships/hyperlink" Target="https://courses.vccs.edu/courses/MTH130-FundamentalsofReasonin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federalregister.gov/documents/2020/09/02/2020-18636/distance-education-and-innovation" TargetMode="External"/><Relationship Id="rId2" Type="http://schemas.openxmlformats.org/officeDocument/2006/relationships/hyperlink" Target="https://courses.vccs.edu/courses/MTH154-QuantitativeReasoning/detail" TargetMode="External"/><Relationship Id="rId1" Type="http://schemas.openxmlformats.org/officeDocument/2006/relationships/slideLayout" Target="../slideLayouts/slideLayout7.xml"/><Relationship Id="rId4" Type="http://schemas.openxmlformats.org/officeDocument/2006/relationships/hyperlink" Target="https://www.stjohns.edu/sites/default/files/2021-08/New_Federal_Requirements_for_Distance_Education.pdf"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conferencepresentations.appspot.com/Projects/ArithmeticAlgebra/MeasurementsUnits.html#studentsProjects" TargetMode="External"/><Relationship Id="rId1" Type="http://schemas.openxmlformats.org/officeDocument/2006/relationships/slideLayout" Target="../slideLayouts/slideLayout7.xml"/><Relationship Id="rId4" Type="http://schemas.openxmlformats.org/officeDocument/2006/relationships/hyperlink" Target="https://conferencepresentations.appspot.com/Projects/ArithmeticAlgebra/MeasurementsUnits.html#tables"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conferencepresentations.appspot.com/Projects/PreCalculus/PiecewiseFunctions/WaterBill.html" TargetMode="External"/><Relationship Id="rId2" Type="http://schemas.openxmlformats.org/officeDocument/2006/relationships/hyperlink" Target="https://conferencepresentations.appspot.com/Projects/PreCalculus/PiecewiseFunctions/PowerBill.html" TargetMode="External"/><Relationship Id="rId1" Type="http://schemas.openxmlformats.org/officeDocument/2006/relationships/slideLayout" Target="../slideLayouts/slideLayout7.xml"/><Relationship Id="rId4" Type="http://schemas.openxmlformats.org/officeDocument/2006/relationships/hyperlink" Target="https://conferencepresentations.appspot.com/Projects/PreCalculus/PiecewiseFunctions/FederalTax.html"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courses.vccs.edu/courses/MTH167-PreCalculuswithTrigonometry/detail" TargetMode="External"/><Relationship Id="rId2" Type="http://schemas.openxmlformats.org/officeDocument/2006/relationships/hyperlink" Target="https://courses.vccs.edu/courses/MTH161-PreCalculusI/detail" TargetMode="External"/><Relationship Id="rId1" Type="http://schemas.openxmlformats.org/officeDocument/2006/relationships/slideLayout" Target="../slideLayouts/slideLayout7.xml"/><Relationship Id="rId5" Type="http://schemas.openxmlformats.org/officeDocument/2006/relationships/hyperlink" Target="https://www.stjohns.edu/sites/default/files/2021-08/New_Federal_Requirements_for_Distance_Education.pdf" TargetMode="External"/><Relationship Id="rId4" Type="http://schemas.openxmlformats.org/officeDocument/2006/relationships/hyperlink" Target="https://www.federalregister.gov/documents/2020/09/02/2020-18636/distance-education-and-innovation"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hyperlink" Target="https://conferencepresentations.appspot.com/Projects/PreCalculus/PiecewiseFunctions/PowerBill.html#studentsProjects" TargetMode="External"/><Relationship Id="rId4" Type="http://schemas.openxmlformats.org/officeDocument/2006/relationships/hyperlink" Target="https://www.alabamapower.com/content/dam/alabama-power/pdfs-docs/Rates/FD.pdf"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conferencepresentations.appspot.com/Projects/PreCalculus/PiecewiseFunctions/WaterBill.html#studentsProjects" TargetMode="External"/><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conferencepresentations.appspot.com/Projects/PreCalculus/PiecewiseFunctions/FederalTax.html#studentsProjects" TargetMode="External"/><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courses.vccs.edu/courses/MTH161-PreCalculusI/detail" TargetMode="External"/><Relationship Id="rId2" Type="http://schemas.openxmlformats.org/officeDocument/2006/relationships/hyperlink" Target="https://conferencepresentations.appspot.com/Projects/PreCalculus/Matrices/Cryptology.html" TargetMode="External"/><Relationship Id="rId1" Type="http://schemas.openxmlformats.org/officeDocument/2006/relationships/slideLayout" Target="../slideLayouts/slideLayout7.xml"/><Relationship Id="rId4" Type="http://schemas.openxmlformats.org/officeDocument/2006/relationships/hyperlink" Target="https://courses.vccs.edu/courses/MTH165-FiniteMath/detai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courses.vccs.edu/courses/MTH266-LinearAlgebra/detail" TargetMode="External"/><Relationship Id="rId2" Type="http://schemas.openxmlformats.org/officeDocument/2006/relationships/hyperlink" Target="https://courses.vccs.edu/courses/MTH167-PreCalculuswithTrigonometry/detail" TargetMode="External"/><Relationship Id="rId1" Type="http://schemas.openxmlformats.org/officeDocument/2006/relationships/slideLayout" Target="../slideLayouts/slideLayout7.xml"/><Relationship Id="rId5" Type="http://schemas.openxmlformats.org/officeDocument/2006/relationships/hyperlink" Target="https://www.stjohns.edu/sites/default/files/2021-08/New_Federal_Requirements_for_Distance_Education.pdf" TargetMode="External"/><Relationship Id="rId4" Type="http://schemas.openxmlformats.org/officeDocument/2006/relationships/hyperlink" Target="https://www.federalregister.gov/documents/2020/09/02/2020-18636/distance-education-and-innovatio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conferencepresentations.appspot.com/Projects/PreCalculus/Matrices/Cryptology.html#studentsProjects"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courses.vccs.edu/courses/MTH155-StatisticalReasoning/detail" TargetMode="External"/><Relationship Id="rId2" Type="http://schemas.openxmlformats.org/officeDocument/2006/relationships/hyperlink" Target="https://conferencepresentations.appspot.com/Projects/Statistics/InferentialStatistics.html" TargetMode="Externa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hyperlink" Target="https://courses.vccs.edu/courses/MTH245-StatisticsI/detail"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stjohns.edu/sites/default/files/2021-08/New_Federal_Requirements_for_Distance_Education.pdf" TargetMode="External"/><Relationship Id="rId2" Type="http://schemas.openxmlformats.org/officeDocument/2006/relationships/hyperlink" Target="https://www.federalregister.gov/documents/2020/09/02/2020-18636/distance-education-and-innovation" TargetMode="External"/><Relationship Id="rId1" Type="http://schemas.openxmlformats.org/officeDocument/2006/relationships/slideLayout" Target="../slideLayouts/slideLayout7.xml"/><Relationship Id="rId4" Type="http://schemas.openxmlformats.org/officeDocument/2006/relationships/hyperlink" Target="https://conferencepresentations.appspot.com/Projects/Statistics/InferentialStatistics.html#studentsProjects"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alabamapower.com/content/dam/alabama-power/pdfs-docs/Rates/FD.pdf" TargetMode="External"/><Relationship Id="rId2" Type="http://schemas.openxmlformats.org/officeDocument/2006/relationships/hyperlink" Target="https://conferencepresentations.appspot.com/" TargetMode="External"/><Relationship Id="rId1" Type="http://schemas.openxmlformats.org/officeDocument/2006/relationships/slideLayout" Target="../slideLayouts/slideLayout7.xml"/><Relationship Id="rId6" Type="http://schemas.openxmlformats.org/officeDocument/2006/relationships/hyperlink" Target="https://www.hawkeslearning.com/Products.htm" TargetMode="External"/><Relationship Id="rId5" Type="http://schemas.openxmlformats.org/officeDocument/2006/relationships/hyperlink" Target="http://www.calhouncwa.com/rates.htm" TargetMode="External"/><Relationship Id="rId4" Type="http://schemas.openxmlformats.org/officeDocument/2006/relationships/hyperlink" Target="https://www.bankrate.com/finance/taxes/tax-brackets.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0F95502-65C6-482A-9B40-DDCB8DAA9D75}"/>
              </a:ext>
            </a:extLst>
          </p:cNvPr>
          <p:cNvGrpSpPr/>
          <p:nvPr/>
        </p:nvGrpSpPr>
        <p:grpSpPr>
          <a:xfrm>
            <a:off x="0" y="0"/>
            <a:ext cx="19010313" cy="1112119"/>
            <a:chOff x="-324644" y="2222500"/>
            <a:chExt cx="22261685" cy="1302327"/>
          </a:xfrm>
        </p:grpSpPr>
        <p:sp>
          <p:nvSpPr>
            <p:cNvPr id="2" name="object 2"/>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3" name="object 3"/>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22" name="object 2">
              <a:extLst>
                <a:ext uri="{FF2B5EF4-FFF2-40B4-BE49-F238E27FC236}">
                  <a16:creationId xmlns:a16="http://schemas.microsoft.com/office/drawing/2014/main" id="{3708B453-DDCE-42C1-9AB9-A8D5DDCA46AD}"/>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23" name="object 2">
              <a:extLst>
                <a:ext uri="{FF2B5EF4-FFF2-40B4-BE49-F238E27FC236}">
                  <a16:creationId xmlns:a16="http://schemas.microsoft.com/office/drawing/2014/main" id="{7D360C87-DA57-4F00-96B5-35199AD1165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
        <p:nvSpPr>
          <p:cNvPr id="4" name="object 4"/>
          <p:cNvSpPr txBox="1"/>
          <p:nvPr/>
        </p:nvSpPr>
        <p:spPr>
          <a:xfrm>
            <a:off x="891253" y="317499"/>
            <a:ext cx="2438801" cy="505267"/>
          </a:xfrm>
          <a:prstGeom prst="rect">
            <a:avLst/>
          </a:prstGeom>
        </p:spPr>
        <p:txBody>
          <a:bodyPr vert="horz" wrap="square" lIns="0" tIns="12700" rIns="0" bIns="0" rtlCol="0">
            <a:spAutoFit/>
          </a:bodyPr>
          <a:lstStyle/>
          <a:p>
            <a:pPr marL="12700" algn="ctr">
              <a:spcBef>
                <a:spcPts val="100"/>
              </a:spcBef>
            </a:pPr>
            <a:r>
              <a:rPr lang="en-US" sz="3200" spc="-10" dirty="0">
                <a:solidFill>
                  <a:srgbClr val="FFFFFF"/>
                </a:solidFill>
                <a:cs typeface="Source Sans Pro Light"/>
              </a:rPr>
              <a:t> Arithmetic</a:t>
            </a:r>
            <a:endParaRPr sz="3200" dirty="0">
              <a:cs typeface="Source Sans Pro Light"/>
            </a:endParaRPr>
          </a:p>
        </p:txBody>
      </p:sp>
      <p:sp>
        <p:nvSpPr>
          <p:cNvPr id="5" name="object 5"/>
          <p:cNvSpPr txBox="1"/>
          <p:nvPr/>
        </p:nvSpPr>
        <p:spPr>
          <a:xfrm>
            <a:off x="5618956" y="241300"/>
            <a:ext cx="3070467" cy="580928"/>
          </a:xfrm>
          <a:prstGeom prst="rect">
            <a:avLst/>
          </a:prstGeom>
          <a:noFill/>
        </p:spPr>
        <p:txBody>
          <a:bodyPr vert="horz" wrap="square" lIns="0" tIns="87630" rIns="0" bIns="0" rtlCol="0">
            <a:spAutoFit/>
          </a:bodyPr>
          <a:lstStyle/>
          <a:p>
            <a:pPr marL="495300" algn="ctr">
              <a:spcBef>
                <a:spcPts val="690"/>
              </a:spcBef>
            </a:pPr>
            <a:r>
              <a:rPr lang="en-US" sz="3200" spc="-10" dirty="0">
                <a:solidFill>
                  <a:srgbClr val="FFFFFF"/>
                </a:solidFill>
                <a:cs typeface="Source Sans Pro Light"/>
              </a:rPr>
              <a:t>Algebra</a:t>
            </a:r>
            <a:endParaRPr sz="3200" dirty="0">
              <a:cs typeface="Source Sans Pro Light"/>
            </a:endParaRPr>
          </a:p>
        </p:txBody>
      </p:sp>
      <p:sp>
        <p:nvSpPr>
          <p:cNvPr id="6" name="object 6"/>
          <p:cNvSpPr txBox="1"/>
          <p:nvPr/>
        </p:nvSpPr>
        <p:spPr>
          <a:xfrm>
            <a:off x="10343356" y="241300"/>
            <a:ext cx="2935916" cy="580928"/>
          </a:xfrm>
          <a:prstGeom prst="rect">
            <a:avLst/>
          </a:prstGeom>
          <a:noFill/>
        </p:spPr>
        <p:txBody>
          <a:bodyPr vert="horz" wrap="square" lIns="0" tIns="87630" rIns="0" bIns="0" rtlCol="0">
            <a:spAutoFit/>
          </a:bodyPr>
          <a:lstStyle/>
          <a:p>
            <a:pPr marL="406400" algn="ctr">
              <a:spcBef>
                <a:spcPts val="690"/>
              </a:spcBef>
            </a:pPr>
            <a:r>
              <a:rPr lang="en-US" sz="3200" spc="-5" dirty="0" err="1">
                <a:solidFill>
                  <a:srgbClr val="FFFFFF"/>
                </a:solidFill>
                <a:cs typeface="Source Sans Pro Light"/>
              </a:rPr>
              <a:t>PreCalculus</a:t>
            </a:r>
            <a:endParaRPr sz="3200" dirty="0">
              <a:cs typeface="Source Sans Pro Light"/>
            </a:endParaRPr>
          </a:p>
        </p:txBody>
      </p:sp>
      <p:sp>
        <p:nvSpPr>
          <p:cNvPr id="7" name="object 7"/>
          <p:cNvSpPr txBox="1"/>
          <p:nvPr/>
        </p:nvSpPr>
        <p:spPr>
          <a:xfrm>
            <a:off x="15601157" y="317500"/>
            <a:ext cx="2477414" cy="505267"/>
          </a:xfrm>
          <a:prstGeom prst="rect">
            <a:avLst/>
          </a:prstGeom>
        </p:spPr>
        <p:txBody>
          <a:bodyPr vert="horz" wrap="square" lIns="0" tIns="12700" rIns="0" bIns="0" rtlCol="0">
            <a:spAutoFit/>
          </a:bodyPr>
          <a:lstStyle/>
          <a:p>
            <a:pPr marL="12700" algn="ctr">
              <a:spcBef>
                <a:spcPts val="100"/>
              </a:spcBef>
            </a:pPr>
            <a:r>
              <a:rPr lang="en-US" sz="3200" spc="-15" dirty="0">
                <a:solidFill>
                  <a:srgbClr val="FFFFFF"/>
                </a:solidFill>
                <a:cs typeface="Source Sans Pro Light"/>
              </a:rPr>
              <a:t> Statistics</a:t>
            </a:r>
            <a:endParaRPr sz="3200" dirty="0">
              <a:cs typeface="Source Sans Pro Light"/>
            </a:endParaRPr>
          </a:p>
        </p:txBody>
      </p:sp>
      <p:sp>
        <p:nvSpPr>
          <p:cNvPr id="8" name="object 8"/>
          <p:cNvSpPr/>
          <p:nvPr/>
        </p:nvSpPr>
        <p:spPr>
          <a:xfrm>
            <a:off x="70746" y="3497683"/>
            <a:ext cx="19007839" cy="7097613"/>
          </a:xfrm>
          <a:prstGeom prst="rect">
            <a:avLst/>
          </a:prstGeom>
          <a:blipFill>
            <a:blip r:embed="rId3" cstate="print"/>
            <a:stretch>
              <a:fillRect/>
            </a:stretch>
          </a:blipFill>
        </p:spPr>
        <p:txBody>
          <a:bodyPr wrap="square" lIns="0" tIns="0" rIns="0" bIns="0" rtlCol="0"/>
          <a:lstStyle/>
          <a:p>
            <a:endParaRPr dirty="0"/>
          </a:p>
        </p:txBody>
      </p:sp>
      <p:sp>
        <p:nvSpPr>
          <p:cNvPr id="18" name="object 18"/>
          <p:cNvSpPr txBox="1"/>
          <p:nvPr/>
        </p:nvSpPr>
        <p:spPr>
          <a:xfrm>
            <a:off x="70746" y="2069972"/>
            <a:ext cx="11148408" cy="1859483"/>
          </a:xfrm>
          <a:prstGeom prst="rect">
            <a:avLst/>
          </a:prstGeom>
        </p:spPr>
        <p:txBody>
          <a:bodyPr vert="horz" wrap="square" lIns="0" tIns="12700" rIns="0" bIns="0" rtlCol="0">
            <a:spAutoFit/>
          </a:bodyPr>
          <a:lstStyle/>
          <a:p>
            <a:pPr marL="12700" marR="5080" indent="120650" algn="ctr">
              <a:lnSpc>
                <a:spcPct val="100000"/>
              </a:lnSpc>
              <a:spcBef>
                <a:spcPts val="100"/>
              </a:spcBef>
            </a:pPr>
            <a:r>
              <a:rPr lang="en-US" sz="6000" dirty="0">
                <a:solidFill>
                  <a:srgbClr val="00318B"/>
                </a:solidFill>
                <a:latin typeface="Times New Roman" panose="02020603050405020304" pitchFamily="18" charset="0"/>
                <a:cs typeface="Times New Roman" panose="02020603050405020304" pitchFamily="18" charset="0"/>
              </a:rPr>
              <a:t>Project-Based Learning: </a:t>
            </a:r>
            <a:br>
              <a:rPr lang="cs-CZ" sz="6000" spc="-20" dirty="0">
                <a:solidFill>
                  <a:srgbClr val="00318B"/>
                </a:solidFill>
                <a:latin typeface="Times New Roman" panose="02020603050405020304" pitchFamily="18" charset="0"/>
                <a:cs typeface="Times New Roman" panose="02020603050405020304" pitchFamily="18" charset="0"/>
              </a:rPr>
            </a:br>
            <a:r>
              <a:rPr lang="en-US" sz="6000" spc="-20" dirty="0">
                <a:solidFill>
                  <a:srgbClr val="00318B"/>
                </a:solidFill>
                <a:latin typeface="Times New Roman" panose="02020603050405020304" pitchFamily="18" charset="0"/>
                <a:cs typeface="Times New Roman" panose="02020603050405020304" pitchFamily="18" charset="0"/>
              </a:rPr>
              <a:t> </a:t>
            </a:r>
            <a:r>
              <a:rPr lang="en-US" sz="5000" spc="-20" dirty="0">
                <a:solidFill>
                  <a:srgbClr val="00318B"/>
                </a:solidFill>
                <a:latin typeface="Times New Roman" panose="02020603050405020304" pitchFamily="18" charset="0"/>
                <a:cs typeface="Times New Roman" panose="02020603050405020304" pitchFamily="18" charset="0"/>
              </a:rPr>
              <a:t>Applied Projects for Student Engagement </a:t>
            </a:r>
            <a:endParaRPr lang="en-US" sz="5000" dirty="0">
              <a:latin typeface="Times New Roman" panose="02020603050405020304" pitchFamily="18" charset="0"/>
              <a:cs typeface="Times New Roman" panose="02020603050405020304" pitchFamily="18" charset="0"/>
            </a:endParaRPr>
          </a:p>
        </p:txBody>
      </p:sp>
      <p:sp>
        <p:nvSpPr>
          <p:cNvPr id="20" name="object 20"/>
          <p:cNvSpPr txBox="1"/>
          <p:nvPr/>
        </p:nvSpPr>
        <p:spPr>
          <a:xfrm>
            <a:off x="582417" y="4731437"/>
            <a:ext cx="8600218" cy="1551707"/>
          </a:xfrm>
          <a:prstGeom prst="rect">
            <a:avLst/>
          </a:prstGeom>
        </p:spPr>
        <p:txBody>
          <a:bodyPr vert="horz" wrap="square" lIns="0" tIns="12700" rIns="0" bIns="0" rtlCol="0">
            <a:spAutoFit/>
          </a:bodyPr>
          <a:lstStyle/>
          <a:p>
            <a:pPr marL="12700" algn="ctr">
              <a:lnSpc>
                <a:spcPct val="100000"/>
              </a:lnSpc>
              <a:spcBef>
                <a:spcPts val="100"/>
              </a:spcBef>
            </a:pPr>
            <a:r>
              <a:rPr lang="en-US" sz="5000" b="0" spc="-5" dirty="0">
                <a:latin typeface="Times New Roman" panose="02020603050405020304" pitchFamily="18" charset="0"/>
                <a:cs typeface="Times New Roman" panose="02020603050405020304" pitchFamily="18" charset="0"/>
              </a:rPr>
              <a:t>Presented on Friday: 10/11/2024 @</a:t>
            </a:r>
            <a:endParaRPr lang="cs-CZ" sz="5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7B9E7B5-05E9-421D-8A09-72761EAF2B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04338" y="1823903"/>
            <a:ext cx="5974232" cy="6992551"/>
          </a:xfrm>
          <a:prstGeom prst="rect">
            <a:avLst/>
          </a:prstGeom>
        </p:spPr>
      </p:pic>
      <p:pic>
        <p:nvPicPr>
          <p:cNvPr id="12" name="Picture 11">
            <a:extLst>
              <a:ext uri="{FF2B5EF4-FFF2-40B4-BE49-F238E27FC236}">
                <a16:creationId xmlns:a16="http://schemas.microsoft.com/office/drawing/2014/main" id="{4A4688CA-684A-43DD-9CE0-8BE522425E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747" y="6619164"/>
            <a:ext cx="11816454" cy="2101754"/>
          </a:xfrm>
          <a:prstGeom prst="rect">
            <a:avLst/>
          </a:prstGeom>
        </p:spPr>
      </p:pic>
      <p:sp>
        <p:nvSpPr>
          <p:cNvPr id="13" name="TextBox 12">
            <a:extLst>
              <a:ext uri="{FF2B5EF4-FFF2-40B4-BE49-F238E27FC236}">
                <a16:creationId xmlns:a16="http://schemas.microsoft.com/office/drawing/2014/main" id="{DFBB753D-A451-4EC8-85BE-A33E1F29C8A8}"/>
              </a:ext>
            </a:extLst>
          </p:cNvPr>
          <p:cNvSpPr txBox="1"/>
          <p:nvPr/>
        </p:nvSpPr>
        <p:spPr>
          <a:xfrm>
            <a:off x="378391" y="8898572"/>
            <a:ext cx="18007824"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hlinkClick r:id="rId6"/>
              </a:rPr>
              <a:t>https://conferencepresentations.appspot.com/</a:t>
            </a:r>
            <a:r>
              <a:rPr lang="en-US" sz="3000" dirty="0">
                <a:latin typeface="Times New Roman" panose="02020603050405020304" pitchFamily="18" charset="0"/>
                <a:cs typeface="Times New Roman" panose="02020603050405020304" pitchFamily="18" charset="0"/>
              </a:rPr>
              <a:t> </a:t>
            </a:r>
          </a:p>
          <a:p>
            <a:endParaRPr lang="en-US" sz="3000" dirty="0">
              <a:latin typeface="Times New Roman" panose="02020603050405020304" pitchFamily="18" charset="0"/>
              <a:cs typeface="Times New Roman" panose="02020603050405020304" pitchFamily="18" charset="0"/>
            </a:endParaRPr>
          </a:p>
          <a:p>
            <a:pPr algn="r"/>
            <a:r>
              <a:rPr lang="en-US" sz="3000" dirty="0">
                <a:latin typeface="Times New Roman" panose="02020603050405020304" pitchFamily="18" charset="0"/>
                <a:cs typeface="Times New Roman" panose="02020603050405020304" pitchFamily="18" charset="0"/>
              </a:rPr>
              <a:t>“The </a:t>
            </a:r>
            <a:r>
              <a:rPr lang="en-US" sz="3000" b="1" dirty="0">
                <a:latin typeface="Times New Roman" panose="02020603050405020304" pitchFamily="18" charset="0"/>
                <a:cs typeface="Times New Roman" panose="02020603050405020304" pitchFamily="18" charset="0"/>
              </a:rPr>
              <a:t>Joy</a:t>
            </a:r>
            <a:r>
              <a:rPr lang="en-US" sz="3000" dirty="0">
                <a:latin typeface="Times New Roman" panose="02020603050405020304" pitchFamily="18" charset="0"/>
                <a:cs typeface="Times New Roman" panose="02020603050405020304" pitchFamily="18" charset="0"/>
              </a:rPr>
              <a:t> of a </a:t>
            </a:r>
            <a:r>
              <a:rPr lang="en-US" sz="3000" b="1" dirty="0">
                <a:latin typeface="Times New Roman" panose="02020603050405020304" pitchFamily="18" charset="0"/>
                <a:cs typeface="Times New Roman" panose="02020603050405020304" pitchFamily="18" charset="0"/>
              </a:rPr>
              <a:t>Teacher</a:t>
            </a:r>
            <a:r>
              <a:rPr lang="en-US" sz="3000" dirty="0">
                <a:latin typeface="Times New Roman" panose="02020603050405020304" pitchFamily="18" charset="0"/>
                <a:cs typeface="Times New Roman" panose="02020603050405020304" pitchFamily="18" charset="0"/>
              </a:rPr>
              <a:t> is the </a:t>
            </a:r>
            <a:r>
              <a:rPr lang="en-US" sz="3000" b="1" dirty="0">
                <a:latin typeface="Times New Roman" panose="02020603050405020304" pitchFamily="18" charset="0"/>
                <a:cs typeface="Times New Roman" panose="02020603050405020304" pitchFamily="18" charset="0"/>
              </a:rPr>
              <a:t>Success</a:t>
            </a:r>
            <a:r>
              <a:rPr lang="en-US" sz="3000" dirty="0">
                <a:latin typeface="Times New Roman" panose="02020603050405020304" pitchFamily="18" charset="0"/>
                <a:cs typeface="Times New Roman" panose="02020603050405020304" pitchFamily="18" charset="0"/>
              </a:rPr>
              <a:t> of his </a:t>
            </a:r>
            <a:r>
              <a:rPr lang="en-US" sz="3000" b="1" dirty="0">
                <a:latin typeface="Times New Roman" panose="02020603050405020304" pitchFamily="18" charset="0"/>
                <a:cs typeface="Times New Roman" panose="02020603050405020304" pitchFamily="18" charset="0"/>
              </a:rPr>
              <a:t>Students.</a:t>
            </a:r>
            <a:r>
              <a:rPr lang="en-US" sz="3000" dirty="0">
                <a:latin typeface="Times New Roman" panose="02020603050405020304" pitchFamily="18" charset="0"/>
                <a:cs typeface="Times New Roman" panose="02020603050405020304" pitchFamily="18" charset="0"/>
              </a:rPr>
              <a:t>” – Samuel Dominic Chukwuemeka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rgbClr val="00A0F0"/>
          </a:solidFill>
        </p:spPr>
        <p:txBody>
          <a:bodyPr wrap="square" lIns="0" tIns="0" rIns="0" bIns="0" rtlCol="0"/>
          <a:lstStyle/>
          <a:p>
            <a:endParaRPr dirty="0"/>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rgbClr val="00A0F0"/>
          </a:solidFill>
        </p:spPr>
        <p:txBody>
          <a:bodyPr wrap="square" lIns="0" tIns="0" rIns="0" bIns="0" rtlCol="0"/>
          <a:lstStyle/>
          <a:p>
            <a:endParaRPr dirty="0"/>
          </a:p>
        </p:txBody>
      </p:sp>
      <p:sp>
        <p:nvSpPr>
          <p:cNvPr id="4" name="object 4"/>
          <p:cNvSpPr txBox="1"/>
          <p:nvPr/>
        </p:nvSpPr>
        <p:spPr>
          <a:xfrm>
            <a:off x="775138" y="158857"/>
            <a:ext cx="6881256" cy="474489"/>
          </a:xfrm>
          <a:prstGeom prst="rect">
            <a:avLst/>
          </a:prstGeom>
        </p:spPr>
        <p:txBody>
          <a:bodyPr vert="horz" wrap="square" lIns="0" tIns="12700" rIns="0" bIns="0" rtlCol="0">
            <a:spAutoFit/>
          </a:bodyPr>
          <a:lstStyle/>
          <a:p>
            <a:pPr marL="12700" algn="ctr">
              <a:lnSpc>
                <a:spcPct val="100000"/>
              </a:lnSpc>
              <a:spcBef>
                <a:spcPts val="100"/>
              </a:spcBef>
            </a:pPr>
            <a:r>
              <a:rPr lang="en-US" sz="3000" b="0" dirty="0">
                <a:solidFill>
                  <a:srgbClr val="FFFFFF"/>
                </a:solidFill>
                <a:latin typeface="Times New Roman" panose="02020603050405020304" pitchFamily="18" charset="0"/>
                <a:cs typeface="Times New Roman" panose="02020603050405020304" pitchFamily="18" charset="0"/>
              </a:rPr>
              <a:t>Applied Projects should be:    I-S-M-A-R-T</a:t>
            </a:r>
            <a:endParaRPr lang="en-US" sz="3000" dirty="0">
              <a:latin typeface="Times New Roman" panose="02020603050405020304" pitchFamily="18" charset="0"/>
              <a:cs typeface="Times New Roman" panose="02020603050405020304" pitchFamily="18" charset="0"/>
            </a:endParaRPr>
          </a:p>
        </p:txBody>
      </p:sp>
      <p:sp>
        <p:nvSpPr>
          <p:cNvPr id="7" name="object 7"/>
          <p:cNvSpPr/>
          <p:nvPr/>
        </p:nvSpPr>
        <p:spPr>
          <a:xfrm>
            <a:off x="0" y="1655943"/>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9" name="object 9"/>
          <p:cNvSpPr txBox="1"/>
          <p:nvPr/>
        </p:nvSpPr>
        <p:spPr>
          <a:xfrm>
            <a:off x="775137" y="1848087"/>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I: Interdisciplinary</a:t>
            </a:r>
            <a:endParaRPr lang="cs-CZ" sz="28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775138" y="2840015"/>
            <a:ext cx="8022609" cy="1508105"/>
          </a:xfrm>
          <a:prstGeom prst="rect">
            <a:avLst/>
          </a:prstGeom>
        </p:spPr>
        <p:txBody>
          <a:bodyPr vert="horz" wrap="square" lIns="0" tIns="5080" rIns="0" bIns="0" rtlCol="0">
            <a:spAutoFit/>
          </a:bodyPr>
          <a:lstStyle/>
          <a:p>
            <a:pPr marL="12700" marR="17780">
              <a:lnSpc>
                <a:spcPct val="150000"/>
              </a:lnSpc>
              <a:spcBef>
                <a:spcPts val="100"/>
              </a:spcBef>
            </a:pPr>
            <a:r>
              <a:rPr lang="en-US" sz="2100" b="0" spc="-5" dirty="0">
                <a:latin typeface="Times New Roman" panose="02020603050405020304" pitchFamily="18" charset="0"/>
                <a:cs typeface="Times New Roman" panose="02020603050405020304" pitchFamily="18" charset="0"/>
              </a:rPr>
              <a:t> </a:t>
            </a:r>
            <a:r>
              <a:rPr lang="en-US" sz="2500" b="0" spc="-5" dirty="0">
                <a:latin typeface="Times New Roman" panose="02020603050405020304" pitchFamily="18" charset="0"/>
                <a:cs typeface="Times New Roman" panose="02020603050405020304" pitchFamily="18" charset="0"/>
              </a:rPr>
              <a:t>Some form of writing is required.</a:t>
            </a:r>
          </a:p>
          <a:p>
            <a:pPr marL="12700" marR="17780">
              <a:lnSpc>
                <a:spcPct val="150000"/>
              </a:lnSpc>
              <a:spcBef>
                <a:spcPts val="100"/>
              </a:spcBef>
            </a:pPr>
            <a:r>
              <a:rPr lang="en-US" sz="2500" spc="-5" dirty="0">
                <a:latin typeface="Times New Roman" panose="02020603050405020304" pitchFamily="18" charset="0"/>
                <a:cs typeface="Times New Roman" panose="02020603050405020304" pitchFamily="18" charset="0"/>
              </a:rPr>
              <a:t> The writing should be part of the assessment.</a:t>
            </a:r>
            <a:r>
              <a:rPr lang="en-US" sz="2500" b="0" spc="-5" dirty="0">
                <a:latin typeface="Times New Roman" panose="02020603050405020304" pitchFamily="18" charset="0"/>
                <a:cs typeface="Times New Roman" panose="02020603050405020304" pitchFamily="18" charset="0"/>
              </a:rPr>
              <a:t> </a:t>
            </a:r>
          </a:p>
          <a:p>
            <a:pPr marL="12700" marR="17780">
              <a:lnSpc>
                <a:spcPct val="100000"/>
              </a:lnSpc>
              <a:spcBef>
                <a:spcPts val="100"/>
              </a:spcBef>
            </a:pPr>
            <a:endParaRPr lang="en-US" sz="2100" dirty="0">
              <a:latin typeface="Times New Roman" panose="02020603050405020304" pitchFamily="18" charset="0"/>
              <a:cs typeface="Times New Roman" panose="02020603050405020304" pitchFamily="18" charset="0"/>
            </a:endParaRPr>
          </a:p>
        </p:txBody>
      </p:sp>
      <p:sp>
        <p:nvSpPr>
          <p:cNvPr id="25" name="object 7">
            <a:extLst>
              <a:ext uri="{FF2B5EF4-FFF2-40B4-BE49-F238E27FC236}">
                <a16:creationId xmlns:a16="http://schemas.microsoft.com/office/drawing/2014/main" id="{03F3E360-2521-4169-87EB-CB0654FDE39A}"/>
              </a:ext>
            </a:extLst>
          </p:cNvPr>
          <p:cNvSpPr/>
          <p:nvPr/>
        </p:nvSpPr>
        <p:spPr>
          <a:xfrm>
            <a:off x="0" y="4317474"/>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29" name="object 9">
            <a:extLst>
              <a:ext uri="{FF2B5EF4-FFF2-40B4-BE49-F238E27FC236}">
                <a16:creationId xmlns:a16="http://schemas.microsoft.com/office/drawing/2014/main" id="{A46500E2-2DD8-4D54-901B-896EF0B0E685}"/>
              </a:ext>
            </a:extLst>
          </p:cNvPr>
          <p:cNvSpPr txBox="1"/>
          <p:nvPr/>
        </p:nvSpPr>
        <p:spPr>
          <a:xfrm>
            <a:off x="387568" y="4478255"/>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S: Specific</a:t>
            </a:r>
            <a:endParaRPr lang="cs-CZ" sz="2800" dirty="0">
              <a:latin typeface="Times New Roman" panose="02020603050405020304" pitchFamily="18" charset="0"/>
              <a:cs typeface="Times New Roman" panose="02020603050405020304" pitchFamily="18" charset="0"/>
            </a:endParaRPr>
          </a:p>
        </p:txBody>
      </p:sp>
      <p:sp>
        <p:nvSpPr>
          <p:cNvPr id="30" name="object 13">
            <a:extLst>
              <a:ext uri="{FF2B5EF4-FFF2-40B4-BE49-F238E27FC236}">
                <a16:creationId xmlns:a16="http://schemas.microsoft.com/office/drawing/2014/main" id="{647BC52C-13BC-46F0-9B91-DEC14276738D}"/>
              </a:ext>
            </a:extLst>
          </p:cNvPr>
          <p:cNvSpPr txBox="1"/>
          <p:nvPr/>
        </p:nvSpPr>
        <p:spPr>
          <a:xfrm>
            <a:off x="775138" y="5534472"/>
            <a:ext cx="8022609" cy="2098010"/>
          </a:xfrm>
          <a:prstGeom prst="rect">
            <a:avLst/>
          </a:prstGeom>
        </p:spPr>
        <p:txBody>
          <a:bodyPr vert="horz" wrap="square" lIns="0" tIns="5080" rIns="0" bIns="0" rtlCol="0">
            <a:spAutoFit/>
          </a:bodyPr>
          <a:lstStyle/>
          <a:p>
            <a:pPr marL="12700" marR="17780">
              <a:lnSpc>
                <a:spcPct val="150000"/>
              </a:lnSpc>
              <a:spcBef>
                <a:spcPts val="100"/>
              </a:spcBef>
            </a:pPr>
            <a:r>
              <a:rPr lang="en-US" sz="2100" b="0" spc="-5" dirty="0">
                <a:latin typeface="Times New Roman" panose="02020603050405020304" pitchFamily="18" charset="0"/>
                <a:cs typeface="Times New Roman" panose="02020603050405020304" pitchFamily="18" charset="0"/>
              </a:rPr>
              <a:t> </a:t>
            </a:r>
            <a:r>
              <a:rPr lang="en-US" sz="2500" b="0" spc="-5" dirty="0">
                <a:latin typeface="Times New Roman" panose="02020603050405020304" pitchFamily="18" charset="0"/>
                <a:cs typeface="Times New Roman" panose="02020603050405020304" pitchFamily="18" charset="0"/>
              </a:rPr>
              <a:t>What is th</a:t>
            </a:r>
            <a:r>
              <a:rPr lang="en-US" sz="2500" spc="-5" dirty="0">
                <a:latin typeface="Times New Roman" panose="02020603050405020304" pitchFamily="18" charset="0"/>
                <a:cs typeface="Times New Roman" panose="02020603050405020304" pitchFamily="18" charset="0"/>
              </a:rPr>
              <a:t>e specific topic?</a:t>
            </a:r>
            <a:endParaRPr lang="en-US" sz="2500" b="0" spc="-5" dirty="0">
              <a:latin typeface="Times New Roman" panose="02020603050405020304" pitchFamily="18" charset="0"/>
              <a:cs typeface="Times New Roman" panose="02020603050405020304" pitchFamily="18" charset="0"/>
            </a:endParaRPr>
          </a:p>
          <a:p>
            <a:pPr marL="12700" marR="17780">
              <a:lnSpc>
                <a:spcPct val="150000"/>
              </a:lnSpc>
              <a:spcBef>
                <a:spcPts val="100"/>
              </a:spcBef>
            </a:pPr>
            <a:r>
              <a:rPr lang="en-US" sz="2500" spc="-5" dirty="0">
                <a:latin typeface="Times New Roman" panose="02020603050405020304" pitchFamily="18" charset="0"/>
                <a:cs typeface="Times New Roman" panose="02020603050405020304" pitchFamily="18" charset="0"/>
              </a:rPr>
              <a:t> What are the specific concepts?</a:t>
            </a:r>
          </a:p>
          <a:p>
            <a:pPr marL="12700" marR="17780">
              <a:lnSpc>
                <a:spcPct val="150000"/>
              </a:lnSpc>
              <a:spcBef>
                <a:spcPts val="100"/>
              </a:spcBef>
            </a:pPr>
            <a:r>
              <a:rPr lang="en-US" sz="2500" b="0" spc="-5" dirty="0">
                <a:latin typeface="Times New Roman" panose="02020603050405020304" pitchFamily="18" charset="0"/>
                <a:cs typeface="Times New Roman" panose="02020603050405020304" pitchFamily="18" charset="0"/>
              </a:rPr>
              <a:t> What are the specific objectives? </a:t>
            </a:r>
          </a:p>
          <a:p>
            <a:pPr marL="12700" marR="17780">
              <a:lnSpc>
                <a:spcPct val="100000"/>
              </a:lnSpc>
              <a:spcBef>
                <a:spcPts val="100"/>
              </a:spcBef>
            </a:pPr>
            <a:endParaRPr lang="en-US" sz="2100" dirty="0">
              <a:latin typeface="Times New Roman" panose="02020603050405020304" pitchFamily="18" charset="0"/>
              <a:cs typeface="Times New Roman" panose="02020603050405020304" pitchFamily="18" charset="0"/>
            </a:endParaRPr>
          </a:p>
        </p:txBody>
      </p:sp>
      <p:sp>
        <p:nvSpPr>
          <p:cNvPr id="31" name="object 7">
            <a:extLst>
              <a:ext uri="{FF2B5EF4-FFF2-40B4-BE49-F238E27FC236}">
                <a16:creationId xmlns:a16="http://schemas.microsoft.com/office/drawing/2014/main" id="{11E1CBD4-CE5E-4AA8-88BF-CDB2E49BB907}"/>
              </a:ext>
            </a:extLst>
          </p:cNvPr>
          <p:cNvSpPr/>
          <p:nvPr/>
        </p:nvSpPr>
        <p:spPr>
          <a:xfrm>
            <a:off x="0" y="7568889"/>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32" name="object 9">
            <a:extLst>
              <a:ext uri="{FF2B5EF4-FFF2-40B4-BE49-F238E27FC236}">
                <a16:creationId xmlns:a16="http://schemas.microsoft.com/office/drawing/2014/main" id="{7CC15332-6247-4547-9164-E6FFD4BBBAB9}"/>
              </a:ext>
            </a:extLst>
          </p:cNvPr>
          <p:cNvSpPr txBox="1"/>
          <p:nvPr/>
        </p:nvSpPr>
        <p:spPr>
          <a:xfrm>
            <a:off x="711418" y="7761033"/>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M: Measurable</a:t>
            </a:r>
            <a:endParaRPr lang="cs-CZ" sz="2800" dirty="0">
              <a:latin typeface="Times New Roman" panose="02020603050405020304" pitchFamily="18" charset="0"/>
              <a:cs typeface="Times New Roman" panose="02020603050405020304" pitchFamily="18" charset="0"/>
            </a:endParaRPr>
          </a:p>
        </p:txBody>
      </p:sp>
      <p:sp>
        <p:nvSpPr>
          <p:cNvPr id="33" name="object 13">
            <a:extLst>
              <a:ext uri="{FF2B5EF4-FFF2-40B4-BE49-F238E27FC236}">
                <a16:creationId xmlns:a16="http://schemas.microsoft.com/office/drawing/2014/main" id="{18759087-D880-4EC0-BAF8-C6F873E51176}"/>
              </a:ext>
            </a:extLst>
          </p:cNvPr>
          <p:cNvSpPr txBox="1"/>
          <p:nvPr/>
        </p:nvSpPr>
        <p:spPr>
          <a:xfrm>
            <a:off x="775138" y="8941284"/>
            <a:ext cx="8022609" cy="1508105"/>
          </a:xfrm>
          <a:prstGeom prst="rect">
            <a:avLst/>
          </a:prstGeom>
        </p:spPr>
        <p:txBody>
          <a:bodyPr vert="horz" wrap="square" lIns="0" tIns="5080" rIns="0" bIns="0" rtlCol="0">
            <a:spAutoFit/>
          </a:bodyPr>
          <a:lstStyle/>
          <a:p>
            <a:pPr marL="12700" marR="17780">
              <a:lnSpc>
                <a:spcPct val="150000"/>
              </a:lnSpc>
              <a:spcBef>
                <a:spcPts val="100"/>
              </a:spcBef>
            </a:pPr>
            <a:r>
              <a:rPr lang="en-US" sz="2100" b="0" spc="-5" dirty="0">
                <a:latin typeface="Times New Roman" panose="02020603050405020304" pitchFamily="18" charset="0"/>
                <a:cs typeface="Times New Roman" panose="02020603050405020304" pitchFamily="18" charset="0"/>
              </a:rPr>
              <a:t> </a:t>
            </a:r>
            <a:r>
              <a:rPr lang="en-US" sz="2500" b="0" spc="-5" dirty="0">
                <a:latin typeface="Times New Roman" panose="02020603050405020304" pitchFamily="18" charset="0"/>
                <a:cs typeface="Times New Roman" panose="02020603050405020304" pitchFamily="18" charset="0"/>
              </a:rPr>
              <a:t>How do we measure the success of the project?</a:t>
            </a:r>
          </a:p>
          <a:p>
            <a:pPr marL="12700" marR="17780">
              <a:lnSpc>
                <a:spcPct val="150000"/>
              </a:lnSpc>
              <a:spcBef>
                <a:spcPts val="100"/>
              </a:spcBef>
            </a:pPr>
            <a:r>
              <a:rPr lang="en-US" sz="2500" spc="-5" dirty="0">
                <a:latin typeface="Times New Roman" panose="02020603050405020304" pitchFamily="18" charset="0"/>
                <a:cs typeface="Times New Roman" panose="02020603050405020304" pitchFamily="18" charset="0"/>
              </a:rPr>
              <a:t> How is the project evaluated?</a:t>
            </a:r>
            <a:r>
              <a:rPr lang="en-US" sz="2500" b="0" spc="-5" dirty="0">
                <a:latin typeface="Times New Roman" panose="02020603050405020304" pitchFamily="18" charset="0"/>
                <a:cs typeface="Times New Roman" panose="02020603050405020304" pitchFamily="18" charset="0"/>
              </a:rPr>
              <a:t> </a:t>
            </a:r>
          </a:p>
          <a:p>
            <a:pPr marL="12700" marR="17780">
              <a:lnSpc>
                <a:spcPct val="100000"/>
              </a:lnSpc>
              <a:spcBef>
                <a:spcPts val="100"/>
              </a:spcBef>
            </a:pP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7017"/>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9" name="object 9"/>
          <p:cNvSpPr txBox="1"/>
          <p:nvPr/>
        </p:nvSpPr>
        <p:spPr>
          <a:xfrm>
            <a:off x="711417" y="229491"/>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A: Authentic</a:t>
            </a:r>
            <a:endParaRPr lang="cs-CZ" sz="28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711415" y="923584"/>
            <a:ext cx="8022609" cy="2072362"/>
          </a:xfrm>
          <a:prstGeom prst="rect">
            <a:avLst/>
          </a:prstGeom>
        </p:spPr>
        <p:txBody>
          <a:bodyPr vert="horz" wrap="square" lIns="0" tIns="5080" rIns="0" bIns="0" rtlCol="0">
            <a:spAutoFit/>
          </a:bodyPr>
          <a:lstStyle/>
          <a:p>
            <a:pPr marL="12700" marR="17780">
              <a:lnSpc>
                <a:spcPct val="150000"/>
              </a:lnSpc>
              <a:spcBef>
                <a:spcPts val="100"/>
              </a:spcBef>
            </a:pPr>
            <a:r>
              <a:rPr lang="en-US" sz="2500" b="0" spc="-5" dirty="0">
                <a:latin typeface="Times New Roman" panose="02020603050405020304" pitchFamily="18" charset="0"/>
                <a:cs typeface="Times New Roman" panose="02020603050405020304" pitchFamily="18" charset="0"/>
              </a:rPr>
              <a:t>Also known as Active Learning, th</a:t>
            </a:r>
            <a:r>
              <a:rPr lang="en-US" sz="2500" spc="-5" dirty="0">
                <a:latin typeface="Times New Roman" panose="02020603050405020304" pitchFamily="18" charset="0"/>
                <a:cs typeface="Times New Roman" panose="02020603050405020304" pitchFamily="18" charset="0"/>
              </a:rPr>
              <a:t>e project must be a real-world project that connects the knowledge acquired in the classroom to applications outside the classroom.</a:t>
            </a:r>
            <a:r>
              <a:rPr lang="en-US" sz="2500" b="0" spc="-5" dirty="0">
                <a:latin typeface="Times New Roman" panose="02020603050405020304" pitchFamily="18" charset="0"/>
                <a:cs typeface="Times New Roman" panose="02020603050405020304" pitchFamily="18" charset="0"/>
              </a:rPr>
              <a:t> </a:t>
            </a:r>
          </a:p>
          <a:p>
            <a:pPr marL="12700" marR="17780">
              <a:lnSpc>
                <a:spcPct val="100000"/>
              </a:lnSpc>
              <a:spcBef>
                <a:spcPts val="100"/>
              </a:spcBef>
            </a:pPr>
            <a:endParaRPr lang="en-US" sz="2100" dirty="0">
              <a:latin typeface="Times New Roman" panose="02020603050405020304" pitchFamily="18" charset="0"/>
              <a:cs typeface="Times New Roman" panose="02020603050405020304" pitchFamily="18" charset="0"/>
            </a:endParaRPr>
          </a:p>
        </p:txBody>
      </p:sp>
      <p:sp>
        <p:nvSpPr>
          <p:cNvPr id="25" name="object 7">
            <a:extLst>
              <a:ext uri="{FF2B5EF4-FFF2-40B4-BE49-F238E27FC236}">
                <a16:creationId xmlns:a16="http://schemas.microsoft.com/office/drawing/2014/main" id="{03F3E360-2521-4169-87EB-CB0654FDE39A}"/>
              </a:ext>
            </a:extLst>
          </p:cNvPr>
          <p:cNvSpPr/>
          <p:nvPr/>
        </p:nvSpPr>
        <p:spPr>
          <a:xfrm>
            <a:off x="0" y="2890202"/>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29" name="object 9">
            <a:extLst>
              <a:ext uri="{FF2B5EF4-FFF2-40B4-BE49-F238E27FC236}">
                <a16:creationId xmlns:a16="http://schemas.microsoft.com/office/drawing/2014/main" id="{A46500E2-2DD8-4D54-901B-896EF0B0E685}"/>
              </a:ext>
            </a:extLst>
          </p:cNvPr>
          <p:cNvSpPr txBox="1"/>
          <p:nvPr/>
        </p:nvSpPr>
        <p:spPr>
          <a:xfrm>
            <a:off x="483102" y="3143655"/>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R: Realistic</a:t>
            </a:r>
            <a:endParaRPr lang="cs-CZ" sz="2800" dirty="0">
              <a:latin typeface="Times New Roman" panose="02020603050405020304" pitchFamily="18" charset="0"/>
              <a:cs typeface="Times New Roman" panose="02020603050405020304" pitchFamily="18" charset="0"/>
            </a:endParaRPr>
          </a:p>
        </p:txBody>
      </p:sp>
      <p:sp>
        <p:nvSpPr>
          <p:cNvPr id="30" name="object 13">
            <a:extLst>
              <a:ext uri="{FF2B5EF4-FFF2-40B4-BE49-F238E27FC236}">
                <a16:creationId xmlns:a16="http://schemas.microsoft.com/office/drawing/2014/main" id="{647BC52C-13BC-46F0-9B91-DEC14276738D}"/>
              </a:ext>
            </a:extLst>
          </p:cNvPr>
          <p:cNvSpPr txBox="1"/>
          <p:nvPr/>
        </p:nvSpPr>
        <p:spPr>
          <a:xfrm>
            <a:off x="711415" y="3926383"/>
            <a:ext cx="8022609" cy="2072362"/>
          </a:xfrm>
          <a:prstGeom prst="rect">
            <a:avLst/>
          </a:prstGeom>
        </p:spPr>
        <p:txBody>
          <a:bodyPr vert="horz" wrap="square" lIns="0" tIns="5080" rIns="0" bIns="0" rtlCol="0">
            <a:spAutoFit/>
          </a:bodyPr>
          <a:lstStyle/>
          <a:p>
            <a:pPr marL="12700" marR="17780">
              <a:lnSpc>
                <a:spcPct val="150000"/>
              </a:lnSpc>
              <a:spcBef>
                <a:spcPts val="100"/>
              </a:spcBef>
            </a:pPr>
            <a:r>
              <a:rPr lang="en-US" sz="2500" b="0" spc="-5" dirty="0">
                <a:latin typeface="Times New Roman" panose="02020603050405020304" pitchFamily="18" charset="0"/>
                <a:cs typeface="Times New Roman" panose="02020603050405020304" pitchFamily="18" charset="0"/>
              </a:rPr>
              <a:t>The project should not be too simple, neither should it be too complex. </a:t>
            </a:r>
            <a:r>
              <a:rPr lang="en-US" sz="2500" spc="-5" dirty="0">
                <a:latin typeface="Times New Roman" panose="02020603050405020304" pitchFamily="18" charset="0"/>
                <a:cs typeface="Times New Roman" panose="02020603050405020304" pitchFamily="18" charset="0"/>
              </a:rPr>
              <a:t>At least one of the objectives of the project should be from the course learning </a:t>
            </a:r>
            <a:r>
              <a:rPr lang="en-US" sz="2500" b="0" spc="-5" dirty="0">
                <a:latin typeface="Times New Roman" panose="02020603050405020304" pitchFamily="18" charset="0"/>
                <a:cs typeface="Times New Roman" panose="02020603050405020304" pitchFamily="18" charset="0"/>
              </a:rPr>
              <a:t>objectives. </a:t>
            </a:r>
          </a:p>
          <a:p>
            <a:pPr marL="12700" marR="17780">
              <a:lnSpc>
                <a:spcPct val="100000"/>
              </a:lnSpc>
              <a:spcBef>
                <a:spcPts val="100"/>
              </a:spcBef>
            </a:pPr>
            <a:endParaRPr lang="en-US" sz="2100" dirty="0">
              <a:latin typeface="Times New Roman" panose="02020603050405020304" pitchFamily="18" charset="0"/>
              <a:cs typeface="Times New Roman" panose="02020603050405020304" pitchFamily="18" charset="0"/>
            </a:endParaRPr>
          </a:p>
        </p:txBody>
      </p:sp>
      <p:sp>
        <p:nvSpPr>
          <p:cNvPr id="31" name="object 7">
            <a:extLst>
              <a:ext uri="{FF2B5EF4-FFF2-40B4-BE49-F238E27FC236}">
                <a16:creationId xmlns:a16="http://schemas.microsoft.com/office/drawing/2014/main" id="{11E1CBD4-CE5E-4AA8-88BF-CDB2E49BB907}"/>
              </a:ext>
            </a:extLst>
          </p:cNvPr>
          <p:cNvSpPr/>
          <p:nvPr/>
        </p:nvSpPr>
        <p:spPr>
          <a:xfrm>
            <a:off x="0" y="5973529"/>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32" name="object 9">
            <a:extLst>
              <a:ext uri="{FF2B5EF4-FFF2-40B4-BE49-F238E27FC236}">
                <a16:creationId xmlns:a16="http://schemas.microsoft.com/office/drawing/2014/main" id="{7CC15332-6247-4547-9164-E6FFD4BBBAB9}"/>
              </a:ext>
            </a:extLst>
          </p:cNvPr>
          <p:cNvSpPr txBox="1"/>
          <p:nvPr/>
        </p:nvSpPr>
        <p:spPr>
          <a:xfrm>
            <a:off x="711417" y="6155039"/>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T: Timely</a:t>
            </a:r>
            <a:endParaRPr lang="cs-CZ" sz="2800" dirty="0">
              <a:latin typeface="Times New Roman" panose="02020603050405020304" pitchFamily="18" charset="0"/>
              <a:cs typeface="Times New Roman" panose="02020603050405020304" pitchFamily="18" charset="0"/>
            </a:endParaRPr>
          </a:p>
        </p:txBody>
      </p:sp>
      <p:sp>
        <p:nvSpPr>
          <p:cNvPr id="33" name="object 13">
            <a:extLst>
              <a:ext uri="{FF2B5EF4-FFF2-40B4-BE49-F238E27FC236}">
                <a16:creationId xmlns:a16="http://schemas.microsoft.com/office/drawing/2014/main" id="{18759087-D880-4EC0-BAF8-C6F873E51176}"/>
              </a:ext>
            </a:extLst>
          </p:cNvPr>
          <p:cNvSpPr txBox="1"/>
          <p:nvPr/>
        </p:nvSpPr>
        <p:spPr>
          <a:xfrm>
            <a:off x="711415" y="6957823"/>
            <a:ext cx="8022609" cy="4301177"/>
          </a:xfrm>
          <a:prstGeom prst="rect">
            <a:avLst/>
          </a:prstGeom>
        </p:spPr>
        <p:txBody>
          <a:bodyPr vert="horz" wrap="square" lIns="0" tIns="5080" rIns="0" bIns="0" rtlCol="0">
            <a:spAutoFit/>
          </a:bodyPr>
          <a:lstStyle/>
          <a:p>
            <a:pPr marL="12700" marR="17780">
              <a:lnSpc>
                <a:spcPct val="150000"/>
              </a:lnSpc>
              <a:spcBef>
                <a:spcPts val="100"/>
              </a:spcBef>
            </a:pPr>
            <a:r>
              <a:rPr lang="en-US" sz="2500" b="0" spc="-5" dirty="0">
                <a:latin typeface="Times New Roman" panose="02020603050405020304" pitchFamily="18" charset="0"/>
                <a:cs typeface="Times New Roman" panose="02020603050405020304" pitchFamily="18" charset="0"/>
              </a:rPr>
              <a:t>The project should have firm deadlines. It is okay to have more than one due date. However, clear expectations of deliverables for each due date should be communicated. If it is a group project or a project that needs to be completed in phases, then firm deadlines are required for each phase of the project.</a:t>
            </a:r>
          </a:p>
          <a:p>
            <a:pPr marL="12700" marR="17780">
              <a:lnSpc>
                <a:spcPct val="150000"/>
              </a:lnSpc>
              <a:spcBef>
                <a:spcPts val="100"/>
              </a:spcBef>
            </a:pPr>
            <a:endParaRPr lang="en-US" sz="2100" b="0" spc="-5" dirty="0">
              <a:latin typeface="Times New Roman" panose="02020603050405020304" pitchFamily="18" charset="0"/>
              <a:cs typeface="Times New Roman" panose="02020603050405020304" pitchFamily="18" charset="0"/>
            </a:endParaRPr>
          </a:p>
          <a:p>
            <a:pPr marL="12700" marR="17780">
              <a:lnSpc>
                <a:spcPct val="100000"/>
              </a:lnSpc>
              <a:spcBef>
                <a:spcPts val="100"/>
              </a:spcBef>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2148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endParaRPr dirty="0"/>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endParaRPr dirty="0"/>
          </a:p>
        </p:txBody>
      </p:sp>
      <p:sp>
        <p:nvSpPr>
          <p:cNvPr id="4" name="object 4"/>
          <p:cNvSpPr txBox="1"/>
          <p:nvPr/>
        </p:nvSpPr>
        <p:spPr>
          <a:xfrm>
            <a:off x="775138" y="158857"/>
            <a:ext cx="6881256" cy="474489"/>
          </a:xfrm>
          <a:prstGeom prst="rect">
            <a:avLst/>
          </a:prstGeom>
        </p:spPr>
        <p:txBody>
          <a:bodyPr vert="horz" wrap="square" lIns="0" tIns="12700" rIns="0" bIns="0" rtlCol="0">
            <a:spAutoFit/>
          </a:bodyPr>
          <a:lstStyle/>
          <a:p>
            <a:pPr marL="12700" algn="ctr">
              <a:lnSpc>
                <a:spcPct val="100000"/>
              </a:lnSpc>
              <a:spcBef>
                <a:spcPts val="100"/>
              </a:spcBef>
            </a:pPr>
            <a:r>
              <a:rPr lang="en-US" sz="3000" b="0" dirty="0">
                <a:solidFill>
                  <a:srgbClr val="FFFFFF"/>
                </a:solidFill>
                <a:latin typeface="Times New Roman" panose="02020603050405020304" pitchFamily="18" charset="0"/>
                <a:cs typeface="Times New Roman" panose="02020603050405020304" pitchFamily="18" charset="0"/>
                <a:hlinkClick r:id="rId2"/>
              </a:rPr>
              <a:t>Arithmetic: Number Theory: ISBN</a:t>
            </a:r>
            <a:endParaRPr lang="en-US" sz="3000" dirty="0">
              <a:latin typeface="Times New Roman" panose="02020603050405020304" pitchFamily="18" charset="0"/>
              <a:cs typeface="Times New Roman" panose="02020603050405020304" pitchFamily="18" charset="0"/>
            </a:endParaRPr>
          </a:p>
        </p:txBody>
      </p:sp>
      <p:sp>
        <p:nvSpPr>
          <p:cNvPr id="7" name="object 7"/>
          <p:cNvSpPr/>
          <p:nvPr/>
        </p:nvSpPr>
        <p:spPr>
          <a:xfrm>
            <a:off x="-1" y="5476027"/>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9" name="object 9"/>
          <p:cNvSpPr txBox="1"/>
          <p:nvPr/>
        </p:nvSpPr>
        <p:spPr>
          <a:xfrm>
            <a:off x="694133" y="5670180"/>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Objectives</a:t>
            </a:r>
            <a:endParaRPr lang="cs-CZ" sz="28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177422" y="6393037"/>
            <a:ext cx="17919508" cy="4039696"/>
          </a:xfrm>
          <a:prstGeom prst="rect">
            <a:avLst/>
          </a:prstGeom>
        </p:spPr>
        <p:txBody>
          <a:bodyPr vert="horz" wrap="square" lIns="0" tIns="5080" rIns="0" bIns="0" rtlCol="0">
            <a:spAutoFit/>
          </a:bodyPr>
          <a:lstStyle/>
          <a:p>
            <a:pPr marL="12700" marR="17780">
              <a:lnSpc>
                <a:spcPct val="150000"/>
              </a:lnSpc>
              <a:spcBef>
                <a:spcPts val="100"/>
              </a:spcBef>
            </a:pPr>
            <a:r>
              <a:rPr lang="en-US" sz="2500" b="0" spc="-5" dirty="0">
                <a:latin typeface="Times New Roman" panose="02020603050405020304" pitchFamily="18" charset="0"/>
                <a:cs typeface="Times New Roman" panose="02020603050405020304" pitchFamily="18" charset="0"/>
              </a:rPr>
              <a:t>Students will:</a:t>
            </a:r>
          </a:p>
          <a:p>
            <a:pPr marL="12700" marR="17780">
              <a:lnSpc>
                <a:spcPct val="150000"/>
              </a:lnSpc>
              <a:spcBef>
                <a:spcPts val="100"/>
              </a:spcBef>
            </a:pPr>
            <a:r>
              <a:rPr lang="en-US" sz="2500" spc="-5" dirty="0">
                <a:latin typeface="Times New Roman" panose="02020603050405020304" pitchFamily="18" charset="0"/>
                <a:cs typeface="Times New Roman" panose="02020603050405020304" pitchFamily="18" charset="0"/>
              </a:rPr>
              <a:t>(1.) </a:t>
            </a:r>
            <a:r>
              <a:rPr lang="en-US" sz="2500" dirty="0">
                <a:solidFill>
                  <a:srgbClr val="000000"/>
                </a:solidFill>
                <a:latin typeface="Times New Roman" panose="02020603050405020304" pitchFamily="18" charset="0"/>
                <a:cs typeface="Times New Roman" panose="02020603050405020304" pitchFamily="18" charset="0"/>
              </a:rPr>
              <a:t>Perform basic arithmetic operations (addition, subtraction, multiplication, and division) on integers.</a:t>
            </a:r>
          </a:p>
          <a:p>
            <a:pPr marL="12700" marR="17780">
              <a:lnSpc>
                <a:spcPct val="150000"/>
              </a:lnSpc>
              <a:spcBef>
                <a:spcPts val="100"/>
              </a:spcBef>
            </a:pPr>
            <a:r>
              <a:rPr lang="en-US" sz="2500" b="0" spc="-5" dirty="0">
                <a:solidFill>
                  <a:srgbClr val="000000"/>
                </a:solidFill>
                <a:latin typeface="Times New Roman" panose="02020603050405020304" pitchFamily="18" charset="0"/>
                <a:cs typeface="Times New Roman" panose="02020603050405020304" pitchFamily="18" charset="0"/>
              </a:rPr>
              <a:t>(2.) </a:t>
            </a:r>
            <a:r>
              <a:rPr lang="en-US" sz="2500" dirty="0">
                <a:solidFill>
                  <a:srgbClr val="000000"/>
                </a:solidFill>
                <a:latin typeface="Times New Roman" panose="02020603050405020304" pitchFamily="18" charset="0"/>
                <a:cs typeface="Times New Roman" panose="02020603050405020304" pitchFamily="18" charset="0"/>
              </a:rPr>
              <a:t>Solve applied problems on numbers.</a:t>
            </a:r>
          </a:p>
          <a:p>
            <a:pPr marL="12700" marR="17780">
              <a:lnSpc>
                <a:spcPct val="150000"/>
              </a:lnSpc>
              <a:spcBef>
                <a:spcPts val="100"/>
              </a:spcBef>
            </a:pPr>
            <a:r>
              <a:rPr lang="en-US" sz="2500" b="0" spc="-5" dirty="0">
                <a:solidFill>
                  <a:srgbClr val="000000"/>
                </a:solidFill>
                <a:latin typeface="Times New Roman" panose="02020603050405020304" pitchFamily="18" charset="0"/>
                <a:cs typeface="Times New Roman" panose="02020603050405020304" pitchFamily="18" charset="0"/>
              </a:rPr>
              <a:t>(3.) </a:t>
            </a:r>
            <a:r>
              <a:rPr lang="en-US" sz="2500" dirty="0">
                <a:solidFill>
                  <a:srgbClr val="000000"/>
                </a:solidFill>
                <a:latin typeface="Times New Roman" panose="02020603050405020304" pitchFamily="18" charset="0"/>
                <a:cs typeface="Times New Roman" panose="02020603050405020304" pitchFamily="18" charset="0"/>
              </a:rPr>
              <a:t>Discuss the concepts of: Divisibility, Factors, and Multiples.</a:t>
            </a:r>
          </a:p>
          <a:p>
            <a:pPr marL="12700" marR="17780">
              <a:lnSpc>
                <a:spcPct val="150000"/>
              </a:lnSpc>
              <a:spcBef>
                <a:spcPts val="100"/>
              </a:spcBef>
            </a:pPr>
            <a:r>
              <a:rPr lang="en-US" sz="2500" b="0" spc="-5" dirty="0">
                <a:solidFill>
                  <a:srgbClr val="000000"/>
                </a:solidFill>
                <a:latin typeface="Times New Roman" panose="02020603050405020304" pitchFamily="18" charset="0"/>
                <a:cs typeface="Times New Roman" panose="02020603050405020304" pitchFamily="18" charset="0"/>
              </a:rPr>
              <a:t>(4.) </a:t>
            </a:r>
            <a:r>
              <a:rPr lang="en-US" sz="2500" dirty="0">
                <a:solidFill>
                  <a:srgbClr val="000000"/>
                </a:solidFill>
                <a:latin typeface="Times New Roman" panose="02020603050405020304" pitchFamily="18" charset="0"/>
                <a:cs typeface="Times New Roman" panose="02020603050405020304" pitchFamily="18" charset="0"/>
              </a:rPr>
              <a:t>Meet one of the learning objectives of the VCCS (Virginia Community College System) standards for:</a:t>
            </a:r>
          </a:p>
          <a:p>
            <a:pPr marL="12700" marR="1778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111: Basic Technical Mathematics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(Provides a foundation in mathematics with emphasis in </a:t>
            </a:r>
            <a:r>
              <a:rPr lang="en-US" sz="2500" b="1" i="1" dirty="0">
                <a:solidFill>
                  <a:srgbClr val="000000"/>
                </a:solidFill>
                <a:latin typeface="Times New Roman" panose="02020603050405020304" pitchFamily="18" charset="0"/>
                <a:cs typeface="Times New Roman" panose="02020603050405020304" pitchFamily="18" charset="0"/>
              </a:rPr>
              <a:t>arithmetic</a:t>
            </a:r>
            <a:r>
              <a:rPr lang="en-US" sz="2500" i="1" dirty="0">
                <a:solidFill>
                  <a:srgbClr val="000000"/>
                </a:solidFill>
                <a:latin typeface="Times New Roman" panose="02020603050405020304" pitchFamily="18" charset="0"/>
                <a:cs typeface="Times New Roman" panose="02020603050405020304" pitchFamily="18" charset="0"/>
              </a:rPr>
              <a:t>, unit conversion, basic algebra, geometry and trigonometry.).</a:t>
            </a:r>
            <a:endParaRPr lang="en-US" sz="2500" spc="-5" dirty="0">
              <a:latin typeface="Times New Roman" panose="02020603050405020304" pitchFamily="18" charset="0"/>
              <a:cs typeface="Times New Roman" panose="02020603050405020304" pitchFamily="18" charset="0"/>
            </a:endParaRPr>
          </a:p>
        </p:txBody>
      </p:sp>
      <p:sp>
        <p:nvSpPr>
          <p:cNvPr id="14" name="object 13">
            <a:extLst>
              <a:ext uri="{FF2B5EF4-FFF2-40B4-BE49-F238E27FC236}">
                <a16:creationId xmlns:a16="http://schemas.microsoft.com/office/drawing/2014/main" id="{96BD0C7E-25C1-4DE9-947B-D95B9141D547}"/>
              </a:ext>
            </a:extLst>
          </p:cNvPr>
          <p:cNvSpPr txBox="1"/>
          <p:nvPr/>
        </p:nvSpPr>
        <p:spPr>
          <a:xfrm>
            <a:off x="286604" y="1200062"/>
            <a:ext cx="18424478" cy="4152547"/>
          </a:xfrm>
          <a:prstGeom prst="rect">
            <a:avLst/>
          </a:prstGeom>
        </p:spPr>
        <p:txBody>
          <a:bodyPr vert="horz" wrap="square" lIns="0" tIns="5080" rIns="0" bIns="0" rtlCol="0">
            <a:spAutoFit/>
          </a:bodyPr>
          <a:lstStyle/>
          <a:p>
            <a:pPr marL="12700" marR="17780">
              <a:lnSpc>
                <a:spcPct val="150000"/>
              </a:lnSpc>
              <a:spcBef>
                <a:spcPts val="100"/>
              </a:spcBef>
            </a:pPr>
            <a:r>
              <a:rPr lang="en-US" sz="2500" b="0" spc="-5" dirty="0">
                <a:latin typeface="Times New Roman" panose="02020603050405020304" pitchFamily="18" charset="0"/>
                <a:cs typeface="Times New Roman" panose="02020603050405020304" pitchFamily="18" charset="0"/>
              </a:rPr>
              <a:t>One of the applications of Number Theory is in Modular Arithmetic.</a:t>
            </a:r>
          </a:p>
          <a:p>
            <a:pPr marL="12700" marR="17780">
              <a:lnSpc>
                <a:spcPct val="150000"/>
              </a:lnSpc>
              <a:spcBef>
                <a:spcPts val="100"/>
              </a:spcBef>
            </a:pPr>
            <a:r>
              <a:rPr lang="en-US" sz="2500" spc="-5" dirty="0">
                <a:latin typeface="Times New Roman" panose="02020603050405020304" pitchFamily="18" charset="0"/>
                <a:cs typeface="Times New Roman" panose="02020603050405020304" pitchFamily="18" charset="0"/>
              </a:rPr>
              <a:t>One of the applications of Modular Arithmetic is in the calculation of the Check Digit of an </a:t>
            </a:r>
            <a:r>
              <a:rPr lang="en-US" sz="2500" b="1" spc="-5" dirty="0">
                <a:latin typeface="Times New Roman" panose="02020603050405020304" pitchFamily="18" charset="0"/>
                <a:cs typeface="Times New Roman" panose="02020603050405020304" pitchFamily="18" charset="0"/>
              </a:rPr>
              <a:t>International Standard Book Number</a:t>
            </a:r>
            <a:r>
              <a:rPr lang="en-US" sz="2500" spc="-5" dirty="0">
                <a:latin typeface="Times New Roman" panose="02020603050405020304" pitchFamily="18" charset="0"/>
                <a:cs typeface="Times New Roman" panose="02020603050405020304" pitchFamily="18" charset="0"/>
              </a:rPr>
              <a:t> (</a:t>
            </a:r>
            <a:r>
              <a:rPr lang="en-US" sz="2500" b="1" spc="-5" dirty="0">
                <a:latin typeface="Times New Roman" panose="02020603050405020304" pitchFamily="18" charset="0"/>
                <a:cs typeface="Times New Roman" panose="02020603050405020304" pitchFamily="18" charset="0"/>
              </a:rPr>
              <a:t>ISBN</a:t>
            </a:r>
            <a:r>
              <a:rPr lang="en-US" sz="2500" spc="-5" dirty="0">
                <a:latin typeface="Times New Roman" panose="02020603050405020304" pitchFamily="18" charset="0"/>
                <a:cs typeface="Times New Roman" panose="02020603050405020304" pitchFamily="18" charset="0"/>
              </a:rPr>
              <a:t>).</a:t>
            </a:r>
          </a:p>
          <a:p>
            <a:pPr marL="12700" marR="1778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ISBN stands for </a:t>
            </a:r>
            <a:r>
              <a:rPr lang="en-US" sz="2500" b="1" dirty="0">
                <a:solidFill>
                  <a:srgbClr val="000000"/>
                </a:solidFill>
                <a:latin typeface="Times New Roman" panose="02020603050405020304" pitchFamily="18" charset="0"/>
                <a:cs typeface="Times New Roman" panose="02020603050405020304" pitchFamily="18" charset="0"/>
              </a:rPr>
              <a:t>International Standard Book Number.</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It is a </a:t>
            </a:r>
            <a:r>
              <a:rPr lang="en-US" sz="2500" b="1" dirty="0">
                <a:solidFill>
                  <a:srgbClr val="000000"/>
                </a:solidFill>
                <a:latin typeface="Times New Roman" panose="02020603050405020304" pitchFamily="18" charset="0"/>
                <a:cs typeface="Times New Roman" panose="02020603050405020304" pitchFamily="18" charset="0"/>
              </a:rPr>
              <a:t>unique identifier</a:t>
            </a:r>
            <a:r>
              <a:rPr lang="en-US" sz="2500" dirty="0">
                <a:solidFill>
                  <a:srgbClr val="000000"/>
                </a:solidFill>
                <a:latin typeface="Times New Roman" panose="02020603050405020304" pitchFamily="18" charset="0"/>
                <a:cs typeface="Times New Roman" panose="02020603050405020304" pitchFamily="18" charset="0"/>
              </a:rPr>
              <a:t> for any </a:t>
            </a:r>
            <a:r>
              <a:rPr lang="en-US" sz="2500" b="1" dirty="0">
                <a:solidFill>
                  <a:srgbClr val="000000"/>
                </a:solidFill>
                <a:latin typeface="Times New Roman" panose="02020603050405020304" pitchFamily="18" charset="0"/>
                <a:cs typeface="Times New Roman" panose="02020603050405020304" pitchFamily="18" charset="0"/>
              </a:rPr>
              <a:t>published book.</a:t>
            </a:r>
            <a:endParaRPr lang="en-US" sz="2500" spc="-5" dirty="0">
              <a:latin typeface="Times New Roman" panose="02020603050405020304" pitchFamily="18" charset="0"/>
              <a:cs typeface="Times New Roman" panose="02020603050405020304" pitchFamily="18" charset="0"/>
            </a:endParaRPr>
          </a:p>
          <a:p>
            <a:pPr marL="12700" marR="17780">
              <a:lnSpc>
                <a:spcPct val="150000"/>
              </a:lnSpc>
              <a:spcBef>
                <a:spcPts val="100"/>
              </a:spcBef>
            </a:pPr>
            <a:r>
              <a:rPr lang="en-US" sz="2500" spc="-5" dirty="0">
                <a:latin typeface="Times New Roman" panose="02020603050405020304" pitchFamily="18" charset="0"/>
                <a:cs typeface="Times New Roman" panose="02020603050405020304" pitchFamily="18" charset="0"/>
              </a:rPr>
              <a:t> </a:t>
            </a:r>
            <a:r>
              <a:rPr lang="en-US" sz="2500" dirty="0">
                <a:solidFill>
                  <a:srgbClr val="000000"/>
                </a:solidFill>
                <a:latin typeface="Times New Roman" panose="02020603050405020304" pitchFamily="18" charset="0"/>
                <a:cs typeface="Times New Roman" panose="02020603050405020304" pitchFamily="18" charset="0"/>
              </a:rPr>
              <a:t>The </a:t>
            </a:r>
            <a:r>
              <a:rPr lang="en-US" sz="2500" b="1" dirty="0">
                <a:solidFill>
                  <a:srgbClr val="000000"/>
                </a:solidFill>
                <a:latin typeface="Times New Roman" panose="02020603050405020304" pitchFamily="18" charset="0"/>
                <a:cs typeface="Times New Roman" panose="02020603050405020304" pitchFamily="18" charset="0"/>
              </a:rPr>
              <a:t>Check Digit</a:t>
            </a:r>
            <a:r>
              <a:rPr lang="en-US" sz="2500" dirty="0">
                <a:solidFill>
                  <a:srgbClr val="000000"/>
                </a:solidFill>
                <a:latin typeface="Times New Roman" panose="02020603050405020304" pitchFamily="18" charset="0"/>
                <a:cs typeface="Times New Roman" panose="02020603050405020304" pitchFamily="18" charset="0"/>
              </a:rPr>
              <a:t> of an </a:t>
            </a:r>
            <a:r>
              <a:rPr lang="en-US" sz="2500" b="1" dirty="0">
                <a:solidFill>
                  <a:srgbClr val="000000"/>
                </a:solidFill>
                <a:latin typeface="Times New Roman" panose="02020603050405020304" pitchFamily="18" charset="0"/>
                <a:cs typeface="Times New Roman" panose="02020603050405020304" pitchFamily="18" charset="0"/>
              </a:rPr>
              <a:t>International Standard Book Number (ISBN)</a:t>
            </a:r>
            <a:r>
              <a:rPr lang="en-US" sz="2500" dirty="0">
                <a:solidFill>
                  <a:srgbClr val="000000"/>
                </a:solidFill>
                <a:latin typeface="Times New Roman" panose="02020603050405020304" pitchFamily="18" charset="0"/>
                <a:cs typeface="Times New Roman" panose="02020603050405020304" pitchFamily="18" charset="0"/>
              </a:rPr>
              <a:t> is the </a:t>
            </a:r>
            <a:r>
              <a:rPr lang="en-US" sz="2500" b="1" dirty="0">
                <a:solidFill>
                  <a:srgbClr val="000000"/>
                </a:solidFill>
                <a:latin typeface="Times New Roman" panose="02020603050405020304" pitchFamily="18" charset="0"/>
                <a:cs typeface="Times New Roman" panose="02020603050405020304" pitchFamily="18" charset="0"/>
              </a:rPr>
              <a:t>last digit</a:t>
            </a:r>
            <a:r>
              <a:rPr lang="en-US" sz="2500" dirty="0">
                <a:solidFill>
                  <a:srgbClr val="000000"/>
                </a:solidFill>
                <a:latin typeface="Times New Roman" panose="02020603050405020304" pitchFamily="18" charset="0"/>
                <a:cs typeface="Times New Roman" panose="02020603050405020304" pitchFamily="18" charset="0"/>
              </a:rPr>
              <a:t> of that number.</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For ISBN-10, the check digit is the 10th digit.</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For ISBN-13, the check digit is the 13th digit.</a:t>
            </a:r>
            <a:endParaRPr lang="en-US" sz="2500" b="0"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59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Objectives (Continued)</a:t>
            </a:r>
            <a:endParaRPr lang="cs-CZ" sz="28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286604" y="1020144"/>
            <a:ext cx="17919508" cy="9220601"/>
          </a:xfrm>
          <a:prstGeom prst="rect">
            <a:avLst/>
          </a:prstGeom>
        </p:spPr>
        <p:txBody>
          <a:bodyPr vert="horz" wrap="square" lIns="0" tIns="5080" rIns="0" bIns="0" rtlCol="0">
            <a:spAutoFit/>
          </a:bodyPr>
          <a:lstStyle/>
          <a:p>
            <a:pPr marL="12700" marR="1778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MTH 133: Mathematics for Health Professions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in context the </a:t>
            </a:r>
            <a:r>
              <a:rPr lang="en-US" sz="2500" b="1" i="1" dirty="0">
                <a:solidFill>
                  <a:srgbClr val="000000"/>
                </a:solidFill>
                <a:latin typeface="Times New Roman" panose="02020603050405020304" pitchFamily="18" charset="0"/>
                <a:cs typeface="Times New Roman" panose="02020603050405020304" pitchFamily="18" charset="0"/>
              </a:rPr>
              <a:t>arithmetic</a:t>
            </a:r>
            <a:r>
              <a:rPr lang="en-US" sz="2500" i="1" dirty="0">
                <a:solidFill>
                  <a:srgbClr val="000000"/>
                </a:solidFill>
                <a:latin typeface="Times New Roman" panose="02020603050405020304" pitchFamily="18" charset="0"/>
                <a:cs typeface="Times New Roman" panose="02020603050405020304" pitchFamily="18" charset="0"/>
              </a:rPr>
              <a:t> of fractions and decimals, the metric system and dimensional analysis, </a:t>
            </a:r>
            <a:r>
              <a:rPr lang="en-US" sz="2500" i="1" dirty="0" err="1">
                <a:solidFill>
                  <a:srgbClr val="000000"/>
                </a:solidFill>
                <a:latin typeface="Times New Roman" panose="02020603050405020304" pitchFamily="18" charset="0"/>
                <a:cs typeface="Times New Roman" panose="02020603050405020304" pitchFamily="18" charset="0"/>
              </a:rPr>
              <a:t>percents</a:t>
            </a:r>
            <a:r>
              <a:rPr lang="en-US" sz="2500" i="1" dirty="0">
                <a:solidFill>
                  <a:srgbClr val="000000"/>
                </a:solidFill>
                <a:latin typeface="Times New Roman" panose="02020603050405020304" pitchFamily="18" charset="0"/>
                <a:cs typeface="Times New Roman" panose="02020603050405020304" pitchFamily="18" charset="0"/>
              </a:rPr>
              <a:t>, ratio and proportion, linear equations, topics in statistics, topics in geometry, logarithms, topics in health professions including dosages, dilutions and IV flow rates.).</a:t>
            </a:r>
          </a:p>
          <a:p>
            <a:pPr marL="12700" marR="17780">
              <a:lnSpc>
                <a:spcPct val="150000"/>
              </a:lnSpc>
              <a:spcBef>
                <a:spcPts val="100"/>
              </a:spcBef>
            </a:pPr>
            <a:endParaRPr lang="en-US" sz="2500" i="1" dirty="0">
              <a:solidFill>
                <a:srgbClr val="000000"/>
              </a:solidFill>
              <a:latin typeface="Times New Roman" panose="02020603050405020304" pitchFamily="18" charset="0"/>
              <a:cs typeface="Times New Roman" panose="02020603050405020304" pitchFamily="18" charset="0"/>
            </a:endParaRPr>
          </a:p>
          <a:p>
            <a:pPr marL="12700" marR="1778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154: Quantitative Reasoning</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[Solve real-life problems requiring interpretation and comparison of various representations of ratios (i.e., fractions, decimals, rates, and percentages including part to part and part to whole, per capita data, growth and decay via absolute and relative change)].</a:t>
            </a:r>
          </a:p>
          <a:p>
            <a:pPr marL="12700" marR="17780">
              <a:lnSpc>
                <a:spcPct val="150000"/>
              </a:lnSpc>
              <a:spcBef>
                <a:spcPts val="100"/>
              </a:spcBef>
            </a:pPr>
            <a:endParaRPr lang="en-US" sz="2500" i="1" dirty="0">
              <a:solidFill>
                <a:srgbClr val="000000"/>
              </a:solidFill>
              <a:latin typeface="Times New Roman" panose="02020603050405020304" pitchFamily="18" charset="0"/>
              <a:cs typeface="Times New Roman" panose="02020603050405020304" pitchFamily="18" charset="0"/>
            </a:endParaRPr>
          </a:p>
          <a:p>
            <a:pPr marL="12700" marR="1778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(5.) Meet the QM (Quality Matters) and USDOE (United States Department of Education) requirements for distance education as regards the provision of RSI (Regular and Substantive Interaction).</a:t>
            </a: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Federal Register: Distance Education and Innovation</a:t>
            </a: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St. John's University: New Federal Requirements for Distance Education: Regular and Substantive Interaction (RSI)</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Student – Content Interaction: Very high</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Student – Student Interaction: Flexible</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Student – Faculty Interaction: Flexible</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0360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Book</a:t>
            </a:r>
            <a:endParaRPr lang="cs-CZ" sz="28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191068" y="7443245"/>
            <a:ext cx="6115394" cy="2282804"/>
          </a:xfrm>
          <a:prstGeom prst="rect">
            <a:avLst/>
          </a:prstGeom>
        </p:spPr>
        <p:txBody>
          <a:bodyPr vert="horz" wrap="square" lIns="0" tIns="5080" rIns="0" bIns="0" rtlCol="0">
            <a:spAutoFit/>
          </a:bodyPr>
          <a:lstStyle/>
          <a:p>
            <a:pPr marL="12700" marR="17780">
              <a:lnSpc>
                <a:spcPct val="150000"/>
              </a:lnSpc>
              <a:spcBef>
                <a:spcPts val="100"/>
              </a:spcBef>
            </a:pPr>
            <a:r>
              <a:rPr lang="en-US" sz="2500" dirty="0">
                <a:solidFill>
                  <a:srgbClr val="000000"/>
                </a:solidFill>
                <a:latin typeface="Times New Roman" panose="02020603050405020304" pitchFamily="18" charset="0"/>
              </a:rPr>
              <a:t>(1.) Verify the check digit for ISBN-10</a:t>
            </a:r>
          </a:p>
          <a:p>
            <a:pPr marL="12700" marR="17780">
              <a:lnSpc>
                <a:spcPct val="150000"/>
              </a:lnSpc>
              <a:spcBef>
                <a:spcPts val="100"/>
              </a:spcBef>
            </a:pPr>
            <a:r>
              <a:rPr lang="en-US" sz="2500" dirty="0">
                <a:solidFill>
                  <a:srgbClr val="000000"/>
                </a:solidFill>
                <a:latin typeface="Times New Roman" panose="02020603050405020304" pitchFamily="18" charset="0"/>
              </a:rPr>
              <a:t>(2.) Verify the check digit for ISBN-13</a:t>
            </a:r>
          </a:p>
          <a:p>
            <a:pPr marL="12700" marR="17780">
              <a:lnSpc>
                <a:spcPct val="150000"/>
              </a:lnSpc>
              <a:spcBef>
                <a:spcPts val="100"/>
              </a:spcBef>
            </a:pPr>
            <a:r>
              <a:rPr lang="en-US" sz="2500" dirty="0">
                <a:solidFill>
                  <a:srgbClr val="000000"/>
                </a:solidFill>
                <a:latin typeface="Times New Roman" panose="02020603050405020304" pitchFamily="18" charset="0"/>
              </a:rPr>
              <a:t>(3.) Convert ISBN-10 to ISBN-13</a:t>
            </a:r>
          </a:p>
          <a:p>
            <a:pPr marL="12700" marR="17780">
              <a:lnSpc>
                <a:spcPct val="150000"/>
              </a:lnSpc>
              <a:spcBef>
                <a:spcPts val="100"/>
              </a:spcBef>
            </a:pPr>
            <a:r>
              <a:rPr lang="en-US" sz="2500" dirty="0">
                <a:solidFill>
                  <a:srgbClr val="000000"/>
                </a:solidFill>
                <a:latin typeface="Times New Roman" panose="02020603050405020304" pitchFamily="18" charset="0"/>
              </a:rPr>
              <a:t>(4.) Convert ISBN-13 to ISBN-10</a:t>
            </a:r>
          </a:p>
        </p:txBody>
      </p:sp>
      <p:sp>
        <p:nvSpPr>
          <p:cNvPr id="6" name="object 7">
            <a:extLst>
              <a:ext uri="{FF2B5EF4-FFF2-40B4-BE49-F238E27FC236}">
                <a16:creationId xmlns:a16="http://schemas.microsoft.com/office/drawing/2014/main" id="{965BB013-EAB7-4F0D-8933-E34BE968F7AE}"/>
              </a:ext>
            </a:extLst>
          </p:cNvPr>
          <p:cNvSpPr/>
          <p:nvPr/>
        </p:nvSpPr>
        <p:spPr>
          <a:xfrm>
            <a:off x="-2" y="645945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endParaRPr dirty="0"/>
          </a:p>
        </p:txBody>
      </p:sp>
      <p:sp>
        <p:nvSpPr>
          <p:cNvPr id="10" name="object 9">
            <a:extLst>
              <a:ext uri="{FF2B5EF4-FFF2-40B4-BE49-F238E27FC236}">
                <a16:creationId xmlns:a16="http://schemas.microsoft.com/office/drawing/2014/main" id="{AC8C7F51-8863-4C2C-A6C7-56C4338FB416}"/>
              </a:ext>
            </a:extLst>
          </p:cNvPr>
          <p:cNvSpPr txBox="1"/>
          <p:nvPr/>
        </p:nvSpPr>
        <p:spPr>
          <a:xfrm>
            <a:off x="711416" y="6651600"/>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Specific Objectives</a:t>
            </a:r>
            <a:endParaRPr lang="cs-CZ" sz="2800" dirty="0">
              <a:latin typeface="Times New Roman" panose="02020603050405020304" pitchFamily="18" charset="0"/>
              <a:cs typeface="Times New Roman" panose="02020603050405020304" pitchFamily="18" charset="0"/>
            </a:endParaRPr>
          </a:p>
        </p:txBody>
      </p:sp>
      <p:sp>
        <p:nvSpPr>
          <p:cNvPr id="11" name="object 7">
            <a:extLst>
              <a:ext uri="{FF2B5EF4-FFF2-40B4-BE49-F238E27FC236}">
                <a16:creationId xmlns:a16="http://schemas.microsoft.com/office/drawing/2014/main" id="{E092B991-25A7-4DE2-A85B-7066443ADCA5}"/>
              </a:ext>
            </a:extLst>
          </p:cNvPr>
          <p:cNvSpPr/>
          <p:nvPr/>
        </p:nvSpPr>
        <p:spPr>
          <a:xfrm>
            <a:off x="-2" y="983752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endParaRPr dirty="0"/>
          </a:p>
        </p:txBody>
      </p:sp>
      <p:sp>
        <p:nvSpPr>
          <p:cNvPr id="12" name="object 9">
            <a:extLst>
              <a:ext uri="{FF2B5EF4-FFF2-40B4-BE49-F238E27FC236}">
                <a16:creationId xmlns:a16="http://schemas.microsoft.com/office/drawing/2014/main" id="{01BC7A96-DC6A-4A82-BEA4-D4E0D1D6D98E}"/>
              </a:ext>
            </a:extLst>
          </p:cNvPr>
          <p:cNvSpPr txBox="1"/>
          <p:nvPr/>
        </p:nvSpPr>
        <p:spPr>
          <a:xfrm>
            <a:off x="454923" y="10029670"/>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latin typeface="Times New Roman" panose="02020603050405020304" pitchFamily="18" charset="0"/>
                <a:cs typeface="Times New Roman" panose="02020603050405020304" pitchFamily="18" charset="0"/>
                <a:hlinkClick r:id="rId2"/>
              </a:rPr>
              <a:t>Students Projects</a:t>
            </a:r>
            <a:endParaRPr lang="cs-CZ"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8F671C5-4943-4081-B907-5FA18CC06529}"/>
              </a:ext>
            </a:extLst>
          </p:cNvPr>
          <p:cNvPicPr>
            <a:picLocks noChangeAspect="1"/>
          </p:cNvPicPr>
          <p:nvPr/>
        </p:nvPicPr>
        <p:blipFill>
          <a:blip r:embed="rId3"/>
          <a:stretch>
            <a:fillRect/>
          </a:stretch>
        </p:blipFill>
        <p:spPr>
          <a:xfrm>
            <a:off x="191067" y="1020144"/>
            <a:ext cx="18601899" cy="5247167"/>
          </a:xfrm>
          <a:prstGeom prst="rect">
            <a:avLst/>
          </a:prstGeom>
        </p:spPr>
      </p:pic>
    </p:spTree>
    <p:extLst>
      <p:ext uri="{BB962C8B-B14F-4D97-AF65-F5344CB8AC3E}">
        <p14:creationId xmlns:p14="http://schemas.microsoft.com/office/powerpoint/2010/main" val="1394507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 4"/>
          <p:cNvSpPr txBox="1"/>
          <p:nvPr/>
        </p:nvSpPr>
        <p:spPr>
          <a:xfrm>
            <a:off x="775138" y="158857"/>
            <a:ext cx="6881256"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hlinkClick r:id="rId2"/>
              </a:rPr>
              <a:t>Algebra: Percent: Show Me Your Receipts</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object 7"/>
          <p:cNvSpPr/>
          <p:nvPr/>
        </p:nvSpPr>
        <p:spPr>
          <a:xfrm>
            <a:off x="-1" y="84713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75138" y="1039280"/>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327546" y="1867280"/>
            <a:ext cx="18356239" cy="8053615"/>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The </a:t>
            </a:r>
            <a:r>
              <a:rPr lang="en-US" sz="2500" b="1" dirty="0">
                <a:solidFill>
                  <a:srgbClr val="000000"/>
                </a:solidFill>
                <a:latin typeface="Times New Roman" panose="02020603050405020304" pitchFamily="18" charset="0"/>
                <a:cs typeface="Times New Roman" panose="02020603050405020304" pitchFamily="18" charset="0"/>
              </a:rPr>
              <a:t>Show Me Your Receipts</a:t>
            </a:r>
            <a:r>
              <a:rPr lang="en-US" sz="2500" dirty="0">
                <a:solidFill>
                  <a:srgbClr val="000000"/>
                </a:solidFill>
                <a:latin typeface="Times New Roman" panose="02020603050405020304" pitchFamily="18" charset="0"/>
                <a:cs typeface="Times New Roman" panose="02020603050405020304" pitchFamily="18" charset="0"/>
              </a:rPr>
              <a:t> project is designed to:</a:t>
            </a:r>
          </a:p>
          <a:p>
            <a:pPr marL="12700" marR="17780" lvl="0">
              <a:lnSpc>
                <a:spcPct val="150000"/>
              </a:lnSpc>
              <a:spcBef>
                <a:spcPts val="100"/>
              </a:spcBef>
            </a:pP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(1.) Meet one of the learning objectives of the VCCS (Virginia Community College System) standards for:</a:t>
            </a: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132: Business Mathematics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(Provides instruction, review, and drill in </a:t>
            </a:r>
            <a:r>
              <a:rPr lang="en-US" sz="2500" b="1" i="1" dirty="0">
                <a:solidFill>
                  <a:srgbClr val="000000"/>
                </a:solidFill>
                <a:latin typeface="Times New Roman" panose="02020603050405020304" pitchFamily="18" charset="0"/>
                <a:cs typeface="Times New Roman" panose="02020603050405020304" pitchFamily="18" charset="0"/>
              </a:rPr>
              <a:t>percentage</a:t>
            </a:r>
            <a:r>
              <a:rPr lang="en-US" sz="2500" i="1" dirty="0">
                <a:solidFill>
                  <a:srgbClr val="000000"/>
                </a:solidFill>
                <a:latin typeface="Times New Roman" panose="02020603050405020304" pitchFamily="18" charset="0"/>
                <a:cs typeface="Times New Roman" panose="02020603050405020304" pitchFamily="18" charset="0"/>
              </a:rPr>
              <a:t>, cash and trade discounts, mark-up, payroll, sales, property and other taxes, simple and compound interest, bank discounts, loans, investments, and annuities).</a:t>
            </a:r>
          </a:p>
          <a:p>
            <a:pPr marL="12700" marR="17780" lvl="0">
              <a:lnSpc>
                <a:spcPct val="150000"/>
              </a:lnSpc>
              <a:spcBef>
                <a:spcPts val="100"/>
              </a:spcBef>
            </a:pPr>
            <a:endParaRPr lang="en-US" sz="2500" i="1" dirty="0">
              <a:solidFill>
                <a:srgbClr val="000000"/>
              </a:solidFill>
              <a:latin typeface="Times New Roman" panose="02020603050405020304" pitchFamily="18" charset="0"/>
              <a:cs typeface="Times New Roman" panose="02020603050405020304" pitchFamily="18" charset="0"/>
            </a:endParaRPr>
          </a:p>
          <a:p>
            <a:pPr marL="12700" marR="17780" lvl="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MTH 133: Mathematics for Health Professions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in context the arithmetic of fractions and decimals, the metric system and dimensional analysis, </a:t>
            </a:r>
            <a:r>
              <a:rPr lang="en-US" sz="2500" b="1" i="1" dirty="0" err="1">
                <a:solidFill>
                  <a:srgbClr val="000000"/>
                </a:solidFill>
                <a:latin typeface="Times New Roman" panose="02020603050405020304" pitchFamily="18" charset="0"/>
                <a:cs typeface="Times New Roman" panose="02020603050405020304" pitchFamily="18" charset="0"/>
              </a:rPr>
              <a:t>percents</a:t>
            </a:r>
            <a:r>
              <a:rPr lang="en-US" sz="2500" i="1" dirty="0">
                <a:solidFill>
                  <a:srgbClr val="000000"/>
                </a:solidFill>
                <a:latin typeface="Times New Roman" panose="02020603050405020304" pitchFamily="18" charset="0"/>
                <a:cs typeface="Times New Roman" panose="02020603050405020304" pitchFamily="18" charset="0"/>
              </a:rPr>
              <a:t>, ratio and proportion, linear equations, topics in statistics, topics in geometry, logarithms, topics in health professions including dosages, dilutions and IV flow rates.).</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MTH 154: Quantitative Reasoning</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[Solve real-life problems requiring interpretation and comparison of various representations of ratios (i.e., fractions, decimals, rates, and </a:t>
            </a:r>
            <a:r>
              <a:rPr lang="en-US" sz="2500" b="1" i="1" dirty="0">
                <a:solidFill>
                  <a:srgbClr val="000000"/>
                </a:solidFill>
                <a:latin typeface="Times New Roman" panose="02020603050405020304" pitchFamily="18" charset="0"/>
                <a:cs typeface="Times New Roman" panose="02020603050405020304" pitchFamily="18" charset="0"/>
              </a:rPr>
              <a:t>percentages</a:t>
            </a:r>
            <a:r>
              <a:rPr lang="en-US" sz="2500" i="1" dirty="0">
                <a:solidFill>
                  <a:srgbClr val="000000"/>
                </a:solidFill>
                <a:latin typeface="Times New Roman" panose="02020603050405020304" pitchFamily="18" charset="0"/>
                <a:cs typeface="Times New Roman" panose="02020603050405020304" pitchFamily="18" charset="0"/>
              </a:rPr>
              <a:t> including part to part and part to whole, per capita data, growth and decay via absolute and relative change)].</a:t>
            </a:r>
            <a:endParaRPr kumimoji="0" lang="en-US" sz="2500" b="0" i="1" u="none" strike="noStrike" kern="1200" cap="none" spc="-5"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7097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 (Continued)</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17919508" cy="5216300"/>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lang="en-US" sz="2500" dirty="0">
                <a:solidFill>
                  <a:srgbClr val="000000"/>
                </a:solidFill>
                <a:latin typeface="Times New Roman" panose="02020603050405020304" pitchFamily="18" charset="0"/>
                <a:cs typeface="Times New Roman" panose="02020603050405020304" pitchFamily="18" charset="0"/>
              </a:rPr>
              <a:t>2</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Meet the QM (Quality Matters) and USDOE (United States Department of Education) requirements for distance education as regards the provision of RSI (Regular and Substantive Interaction).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Federal Register: Distance Education and Innovation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St. John's University: New Federal Requirements for Distance Education: Regular and Substantive Interaction (RSI)</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Content Interaction: Very high</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Student Interaction: Flexible</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Faculty Interaction: Flexible</a:t>
            </a:r>
          </a:p>
          <a:p>
            <a:pPr marL="12700" marR="17780" lvl="0" indent="0" algn="l" defTabSz="457200" rtl="0" eaLnBrk="1" fontAlgn="auto" latinLnBrk="0" hangingPunct="1">
              <a:lnSpc>
                <a:spcPct val="150000"/>
              </a:lnSpc>
              <a:spcBef>
                <a:spcPts val="100"/>
              </a:spcBef>
              <a:spcAft>
                <a:spcPts val="0"/>
              </a:spcAft>
              <a:buClrTx/>
              <a:buSzTx/>
              <a:buFontTx/>
              <a:buNone/>
              <a:tabLst/>
              <a:defRPr/>
            </a:pPr>
            <a:endParaRPr lang="en-US" sz="2500" dirty="0">
              <a:solidFill>
                <a:srgbClr val="000000"/>
              </a:solidFill>
              <a:latin typeface="Times New Roman" panose="02020603050405020304" pitchFamily="18" charset="0"/>
              <a:cs typeface="Times New Roman" panose="02020603050405020304" pitchFamily="18" charset="0"/>
            </a:endParaRPr>
          </a:p>
          <a:p>
            <a:pPr marL="12700" marR="17780" lvl="0">
              <a:lnSpc>
                <a:spcPct val="150000"/>
              </a:lnSpc>
              <a:spcBef>
                <a:spcPts val="100"/>
              </a:spcBef>
            </a:pPr>
            <a:r>
              <a:rPr lang="en-US" sz="2500" dirty="0">
                <a:solidFill>
                  <a:srgbClr val="000000"/>
                </a:solidFill>
                <a:latin typeface="Times New Roman" panose="02020603050405020304" pitchFamily="18" charset="0"/>
              </a:rPr>
              <a:t>(3.) Solve applied problems involving </a:t>
            </a:r>
            <a:r>
              <a:rPr lang="en-US" sz="2500" dirty="0" err="1">
                <a:solidFill>
                  <a:srgbClr val="000000"/>
                </a:solidFill>
                <a:latin typeface="Times New Roman" panose="02020603050405020304" pitchFamily="18" charset="0"/>
              </a:rPr>
              <a:t>percents</a:t>
            </a:r>
            <a:r>
              <a:rPr lang="en-US" sz="2500" dirty="0">
                <a:solidFill>
                  <a:srgbClr val="000000"/>
                </a:solidFill>
                <a:latin typeface="Times New Roman" panose="02020603050405020304" pitchFamily="18" charset="0"/>
              </a:rPr>
              <a:t>.</a:t>
            </a: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21391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Example Guides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17919508" cy="1667251"/>
          </a:xfrm>
          <a:prstGeom prst="rect">
            <a:avLst/>
          </a:prstGeom>
        </p:spPr>
        <p:txBody>
          <a:bodyPr vert="horz" wrap="square" lIns="0" tIns="5080" rIns="0" bIns="0" rtlCol="0">
            <a:spAutoFit/>
          </a:bodyPr>
          <a:lstStyle/>
          <a:p>
            <a:pPr marL="12700" marR="17780" lvl="0">
              <a:lnSpc>
                <a:spcPct val="150000"/>
              </a:lnSpc>
              <a:spcBef>
                <a:spcPts val="100"/>
              </a:spcBef>
            </a:pPr>
            <a:r>
              <a:rPr lang="en-US" sz="2500" b="1" dirty="0">
                <a:solidFill>
                  <a:srgbClr val="000000"/>
                </a:solidFill>
                <a:latin typeface="Times New Roman" panose="02020603050405020304" pitchFamily="18" charset="0"/>
                <a:cs typeface="Times New Roman" panose="02020603050405020304" pitchFamily="18" charset="0"/>
              </a:rPr>
              <a:t>Case 0:</a:t>
            </a:r>
            <a:r>
              <a:rPr lang="en-US" sz="2500" dirty="0">
                <a:solidFill>
                  <a:srgbClr val="000000"/>
                </a:solidFill>
                <a:latin typeface="Times New Roman" panose="02020603050405020304" pitchFamily="18" charset="0"/>
                <a:cs typeface="Times New Roman" panose="02020603050405020304" pitchFamily="18" charset="0"/>
              </a:rPr>
              <a:t> What Item?</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SamDom4Peace did not pay a sales tax in one of the items.</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Identify the item.</a:t>
            </a:r>
          </a:p>
        </p:txBody>
      </p:sp>
      <p:pic>
        <p:nvPicPr>
          <p:cNvPr id="2058" name="Picture 10" descr="Case 0">
            <a:extLst>
              <a:ext uri="{FF2B5EF4-FFF2-40B4-BE49-F238E27FC236}">
                <a16:creationId xmlns:a16="http://schemas.microsoft.com/office/drawing/2014/main" id="{6029009E-3A90-4D97-B2E8-BF3AC9CF4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604" y="3176564"/>
            <a:ext cx="5903852" cy="6991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882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3172150"/>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cs typeface="Times New Roman" panose="02020603050405020304" pitchFamily="18" charset="0"/>
              </a:rPr>
              <a:t>Case 1:</a:t>
            </a:r>
            <a:r>
              <a:rPr lang="en-US" sz="2800" dirty="0">
                <a:solidFill>
                  <a:srgbClr val="000000"/>
                </a:solidFill>
                <a:latin typeface="Times New Roman" panose="02020603050405020304" pitchFamily="18" charset="0"/>
                <a:cs typeface="Times New Roman" panose="02020603050405020304" pitchFamily="18" charset="0"/>
              </a:rPr>
              <a:t> </a:t>
            </a:r>
          </a:p>
          <a:p>
            <a:pPr marL="12700" marR="17780" lvl="0">
              <a:lnSpc>
                <a:spcPct val="150000"/>
              </a:lnSpc>
              <a:spcBef>
                <a:spcPts val="100"/>
              </a:spcBef>
            </a:pPr>
            <a:r>
              <a:rPr lang="en-US" sz="2800" u="sng" dirty="0">
                <a:solidFill>
                  <a:srgbClr val="000000"/>
                </a:solidFill>
                <a:latin typeface="Times New Roman" panose="02020603050405020304" pitchFamily="18" charset="0"/>
                <a:cs typeface="Times New Roman" panose="02020603050405020304" pitchFamily="18" charset="0"/>
              </a:rPr>
              <a:t>Given:</a:t>
            </a:r>
            <a:r>
              <a:rPr lang="en-US" sz="2800" dirty="0">
                <a:solidFill>
                  <a:srgbClr val="000000"/>
                </a:solidFill>
                <a:latin typeface="Times New Roman" panose="02020603050405020304" pitchFamily="18" charset="0"/>
                <a:cs typeface="Times New Roman" panose="02020603050405020304" pitchFamily="18" charset="0"/>
              </a:rPr>
              <a:t> Initial price and Tax rate</a:t>
            </a:r>
            <a:br>
              <a:rPr lang="en-US" sz="2800" dirty="0">
                <a:latin typeface="Times New Roman" panose="02020603050405020304" pitchFamily="18" charset="0"/>
                <a:cs typeface="Times New Roman" panose="02020603050405020304" pitchFamily="18" charset="0"/>
              </a:rPr>
            </a:br>
            <a:r>
              <a:rPr lang="en-US" sz="2800" u="sng" dirty="0">
                <a:solidFill>
                  <a:srgbClr val="000000"/>
                </a:solidFill>
                <a:latin typeface="Times New Roman" panose="02020603050405020304" pitchFamily="18" charset="0"/>
                <a:cs typeface="Times New Roman" panose="02020603050405020304" pitchFamily="18" charset="0"/>
              </a:rPr>
              <a:t>Calculate:</a:t>
            </a:r>
            <a:br>
              <a:rPr lang="en-US" sz="2800" dirty="0">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(a.) Tax</a:t>
            </a:r>
            <a:br>
              <a:rPr lang="en-US" sz="2800" dirty="0">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(b.) Total price</a:t>
            </a:r>
          </a:p>
        </p:txBody>
      </p:sp>
      <p:pic>
        <p:nvPicPr>
          <p:cNvPr id="3074" name="Picture 2" descr="Case 1">
            <a:extLst>
              <a:ext uri="{FF2B5EF4-FFF2-40B4-BE49-F238E27FC236}">
                <a16:creationId xmlns:a16="http://schemas.microsoft.com/office/drawing/2014/main" id="{00CE12B8-754A-4F80-A2B9-9C9B6F313D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269517"/>
            <a:ext cx="8106770" cy="10154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740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3172150"/>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rPr>
              <a:t>Case 2:</a:t>
            </a:r>
            <a:r>
              <a:rPr lang="en-US" sz="2800" dirty="0">
                <a:solidFill>
                  <a:srgbClr val="000000"/>
                </a:solidFill>
                <a:latin typeface="Times New Roman" panose="02020603050405020304" pitchFamily="18" charset="0"/>
              </a:rPr>
              <a:t> </a:t>
            </a:r>
          </a:p>
          <a:p>
            <a:pPr marL="12700" marR="17780" lvl="0">
              <a:lnSpc>
                <a:spcPct val="150000"/>
              </a:lnSpc>
              <a:spcBef>
                <a:spcPts val="100"/>
              </a:spcBef>
            </a:pPr>
            <a:r>
              <a:rPr lang="en-US" sz="2800" u="sng" dirty="0">
                <a:solidFill>
                  <a:srgbClr val="000000"/>
                </a:solidFill>
                <a:latin typeface="Times New Roman" panose="02020603050405020304" pitchFamily="18" charset="0"/>
              </a:rPr>
              <a:t>Given:</a:t>
            </a:r>
            <a:r>
              <a:rPr lang="en-US" sz="2800" dirty="0">
                <a:solidFill>
                  <a:srgbClr val="000000"/>
                </a:solidFill>
                <a:latin typeface="Times New Roman" panose="02020603050405020304" pitchFamily="18" charset="0"/>
              </a:rPr>
              <a:t> Tax rate and Total price</a:t>
            </a:r>
            <a:br>
              <a:rPr lang="en-US" sz="2800" dirty="0"/>
            </a:br>
            <a:r>
              <a:rPr lang="en-US" sz="2800" u="sng" dirty="0">
                <a:solidFill>
                  <a:srgbClr val="000000"/>
                </a:solidFill>
                <a:latin typeface="Times New Roman" panose="02020603050405020304" pitchFamily="18" charset="0"/>
              </a:rPr>
              <a:t>Calculate:</a:t>
            </a:r>
            <a:br>
              <a:rPr lang="en-US" sz="2800" dirty="0"/>
            </a:br>
            <a:r>
              <a:rPr lang="en-US" sz="2800" dirty="0">
                <a:solidFill>
                  <a:srgbClr val="000000"/>
                </a:solidFill>
                <a:latin typeface="Times New Roman" panose="02020603050405020304" pitchFamily="18" charset="0"/>
              </a:rPr>
              <a:t>(a.) Initial price (Subtotal)</a:t>
            </a:r>
            <a:br>
              <a:rPr lang="en-US" sz="2800" dirty="0"/>
            </a:br>
            <a:r>
              <a:rPr lang="en-US" sz="2800" dirty="0">
                <a:solidFill>
                  <a:srgbClr val="000000"/>
                </a:solidFill>
                <a:latin typeface="Times New Roman" panose="02020603050405020304" pitchFamily="18" charset="0"/>
              </a:rPr>
              <a:t>(b.) Tax</a:t>
            </a:r>
            <a:endParaRPr lang="en-US" sz="2500" dirty="0">
              <a:solidFill>
                <a:srgbClr val="000000"/>
              </a:solidFill>
              <a:latin typeface="Times New Roman" panose="02020603050405020304" pitchFamily="18" charset="0"/>
              <a:cs typeface="Times New Roman" panose="02020603050405020304" pitchFamily="18" charset="0"/>
            </a:endParaRPr>
          </a:p>
        </p:txBody>
      </p:sp>
      <p:pic>
        <p:nvPicPr>
          <p:cNvPr id="4098" name="Picture 2" descr="Case 2">
            <a:extLst>
              <a:ext uri="{FF2B5EF4-FFF2-40B4-BE49-F238E27FC236}">
                <a16:creationId xmlns:a16="http://schemas.microsoft.com/office/drawing/2014/main" id="{7FAFAC76-E34B-4E15-9BCB-4969ACBD9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269517"/>
            <a:ext cx="8310467" cy="10154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43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3172150"/>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rPr>
              <a:t>Case 3:</a:t>
            </a:r>
            <a:r>
              <a:rPr lang="en-US" sz="2800" dirty="0">
                <a:solidFill>
                  <a:srgbClr val="000000"/>
                </a:solidFill>
                <a:latin typeface="Times New Roman" panose="02020603050405020304" pitchFamily="18" charset="0"/>
              </a:rPr>
              <a:t> </a:t>
            </a:r>
          </a:p>
          <a:p>
            <a:pPr marL="12700" marR="17780" lvl="0">
              <a:lnSpc>
                <a:spcPct val="150000"/>
              </a:lnSpc>
              <a:spcBef>
                <a:spcPts val="100"/>
              </a:spcBef>
            </a:pPr>
            <a:r>
              <a:rPr lang="en-US" sz="2800" u="sng" dirty="0">
                <a:solidFill>
                  <a:srgbClr val="000000"/>
                </a:solidFill>
                <a:latin typeface="Times New Roman" panose="02020603050405020304" pitchFamily="18" charset="0"/>
              </a:rPr>
              <a:t>Given:</a:t>
            </a:r>
            <a:r>
              <a:rPr lang="en-US" sz="2800" dirty="0">
                <a:solidFill>
                  <a:srgbClr val="000000"/>
                </a:solidFill>
                <a:latin typeface="Times New Roman" panose="02020603050405020304" pitchFamily="18" charset="0"/>
              </a:rPr>
              <a:t> Tax rate and Tax (Use $1.29638)</a:t>
            </a:r>
            <a:br>
              <a:rPr lang="en-US" sz="2800" dirty="0"/>
            </a:br>
            <a:r>
              <a:rPr lang="en-US" sz="2800" u="sng" dirty="0">
                <a:solidFill>
                  <a:srgbClr val="000000"/>
                </a:solidFill>
                <a:latin typeface="Times New Roman" panose="02020603050405020304" pitchFamily="18" charset="0"/>
              </a:rPr>
              <a:t>Calculate:</a:t>
            </a:r>
            <a:br>
              <a:rPr lang="en-US" sz="2800" dirty="0"/>
            </a:br>
            <a:r>
              <a:rPr lang="en-US" sz="2800" dirty="0">
                <a:solidFill>
                  <a:srgbClr val="000000"/>
                </a:solidFill>
                <a:latin typeface="Times New Roman" panose="02020603050405020304" pitchFamily="18" charset="0"/>
              </a:rPr>
              <a:t>(a.) Initial price (Subtotal)</a:t>
            </a:r>
            <a:br>
              <a:rPr lang="en-US" sz="2800" dirty="0"/>
            </a:br>
            <a:r>
              <a:rPr lang="en-US" sz="2800" dirty="0">
                <a:solidFill>
                  <a:srgbClr val="000000"/>
                </a:solidFill>
                <a:latin typeface="Times New Roman" panose="02020603050405020304" pitchFamily="18" charset="0"/>
              </a:rPr>
              <a:t>(b.) Total price</a:t>
            </a:r>
            <a:endParaRPr lang="en-US" sz="2500" dirty="0">
              <a:solidFill>
                <a:srgbClr val="000000"/>
              </a:solidFill>
              <a:latin typeface="Times New Roman" panose="02020603050405020304" pitchFamily="18" charset="0"/>
              <a:cs typeface="Times New Roman" panose="02020603050405020304" pitchFamily="18" charset="0"/>
            </a:endParaRPr>
          </a:p>
        </p:txBody>
      </p:sp>
      <p:pic>
        <p:nvPicPr>
          <p:cNvPr id="5122" name="Picture 2" descr="Case 3">
            <a:extLst>
              <a:ext uri="{FF2B5EF4-FFF2-40B4-BE49-F238E27FC236}">
                <a16:creationId xmlns:a16="http://schemas.microsoft.com/office/drawing/2014/main" id="{E1BD1737-8650-4BDA-BACD-BA6CE20C2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269517"/>
            <a:ext cx="8118049" cy="10154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358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5111143"/>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rPr>
              <a:t>Case 4:</a:t>
            </a:r>
            <a:r>
              <a:rPr lang="en-US" sz="2800" dirty="0">
                <a:solidFill>
                  <a:srgbClr val="000000"/>
                </a:solidFill>
                <a:latin typeface="Times New Roman" panose="02020603050405020304" pitchFamily="18" charset="0"/>
              </a:rPr>
              <a:t> </a:t>
            </a:r>
          </a:p>
          <a:p>
            <a:pPr marL="12700" marR="17780" lvl="0">
              <a:lnSpc>
                <a:spcPct val="150000"/>
              </a:lnSpc>
              <a:spcBef>
                <a:spcPts val="100"/>
              </a:spcBef>
            </a:pPr>
            <a:r>
              <a:rPr lang="en-US" sz="2800" u="sng" dirty="0">
                <a:solidFill>
                  <a:srgbClr val="000000"/>
                </a:solidFill>
                <a:latin typeface="Times New Roman" panose="02020603050405020304" pitchFamily="18" charset="0"/>
              </a:rPr>
              <a:t>Given:</a:t>
            </a:r>
            <a:r>
              <a:rPr lang="en-US" sz="2800" dirty="0">
                <a:solidFill>
                  <a:srgbClr val="000000"/>
                </a:solidFill>
                <a:latin typeface="Times New Roman" panose="02020603050405020304" pitchFamily="18" charset="0"/>
              </a:rPr>
              <a:t> Five items, Part of the subtotal (Initial prices of four items), Tax rate, and Total price</a:t>
            </a:r>
            <a:br>
              <a:rPr lang="en-US" sz="2800" dirty="0"/>
            </a:br>
            <a:r>
              <a:rPr lang="en-US" sz="2800" u="sng" dirty="0">
                <a:solidFill>
                  <a:srgbClr val="000000"/>
                </a:solidFill>
                <a:latin typeface="Times New Roman" panose="02020603050405020304" pitchFamily="18" charset="0"/>
              </a:rPr>
              <a:t>Calculate:</a:t>
            </a:r>
            <a:br>
              <a:rPr lang="en-US" sz="2800" dirty="0"/>
            </a:br>
            <a:r>
              <a:rPr lang="en-US" sz="2800" dirty="0">
                <a:solidFill>
                  <a:srgbClr val="000000"/>
                </a:solidFill>
                <a:latin typeface="Times New Roman" panose="02020603050405020304" pitchFamily="18" charset="0"/>
              </a:rPr>
              <a:t>(a.) Subtotal (sum of the initial prices)</a:t>
            </a:r>
            <a:br>
              <a:rPr lang="en-US" sz="2800" dirty="0"/>
            </a:br>
            <a:r>
              <a:rPr lang="en-US" sz="2800" dirty="0">
                <a:solidFill>
                  <a:srgbClr val="000000"/>
                </a:solidFill>
                <a:latin typeface="Times New Roman" panose="02020603050405020304" pitchFamily="18" charset="0"/>
              </a:rPr>
              <a:t>(b.) Tax</a:t>
            </a:r>
            <a:br>
              <a:rPr lang="en-US" sz="2800" dirty="0"/>
            </a:br>
            <a:r>
              <a:rPr lang="en-US" sz="2800" dirty="0">
                <a:solidFill>
                  <a:srgbClr val="000000"/>
                </a:solidFill>
                <a:latin typeface="Times New Roman" panose="02020603050405020304" pitchFamily="18" charset="0"/>
              </a:rPr>
              <a:t>(c.) Initial price of the fifth item</a:t>
            </a:r>
            <a:br>
              <a:rPr lang="en-US" sz="2800" dirty="0"/>
            </a:br>
            <a:r>
              <a:rPr lang="en-US" sz="2800" dirty="0">
                <a:solidFill>
                  <a:srgbClr val="000000"/>
                </a:solidFill>
                <a:latin typeface="Times New Roman" panose="02020603050405020304" pitchFamily="18" charset="0"/>
              </a:rPr>
              <a:t>(d.) Unit price of the fifth item per pound</a:t>
            </a:r>
            <a:endParaRPr lang="en-US" sz="2500" dirty="0">
              <a:solidFill>
                <a:srgbClr val="000000"/>
              </a:solidFill>
              <a:latin typeface="Times New Roman" panose="02020603050405020304" pitchFamily="18" charset="0"/>
              <a:cs typeface="Times New Roman" panose="02020603050405020304" pitchFamily="18" charset="0"/>
            </a:endParaRPr>
          </a:p>
        </p:txBody>
      </p:sp>
      <p:pic>
        <p:nvPicPr>
          <p:cNvPr id="6146" name="Picture 2" descr="Case 4">
            <a:extLst>
              <a:ext uri="{FF2B5EF4-FFF2-40B4-BE49-F238E27FC236}">
                <a16:creationId xmlns:a16="http://schemas.microsoft.com/office/drawing/2014/main" id="{08D0F89A-9BA4-4928-860D-0C4145F0BD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269517"/>
            <a:ext cx="8310467" cy="10154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972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3805657"/>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rPr>
              <a:t>Case 5:</a:t>
            </a:r>
            <a:r>
              <a:rPr lang="en-US" sz="2800" dirty="0">
                <a:solidFill>
                  <a:srgbClr val="000000"/>
                </a:solidFill>
                <a:latin typeface="Times New Roman" panose="02020603050405020304" pitchFamily="18" charset="0"/>
              </a:rPr>
              <a:t> </a:t>
            </a:r>
          </a:p>
          <a:p>
            <a:pPr marL="12700" marR="17780" lvl="0">
              <a:lnSpc>
                <a:spcPct val="150000"/>
              </a:lnSpc>
              <a:spcBef>
                <a:spcPts val="100"/>
              </a:spcBef>
            </a:pPr>
            <a:r>
              <a:rPr lang="en-US" sz="2800" u="sng" dirty="0">
                <a:solidFill>
                  <a:srgbClr val="000000"/>
                </a:solidFill>
                <a:latin typeface="Times New Roman" panose="02020603050405020304" pitchFamily="18" charset="0"/>
              </a:rPr>
              <a:t>Given:</a:t>
            </a:r>
            <a:r>
              <a:rPr lang="en-US" sz="2800" dirty="0">
                <a:solidFill>
                  <a:srgbClr val="000000"/>
                </a:solidFill>
                <a:latin typeface="Times New Roman" panose="02020603050405020304" pitchFamily="18" charset="0"/>
              </a:rPr>
              <a:t> Tax, Sam's Club credit, Remaining balance (Use $11.1798)</a:t>
            </a:r>
            <a:br>
              <a:rPr lang="en-US" sz="2800" dirty="0"/>
            </a:br>
            <a:r>
              <a:rPr lang="en-US" sz="2800" u="sng" dirty="0">
                <a:solidFill>
                  <a:srgbClr val="000000"/>
                </a:solidFill>
                <a:latin typeface="Times New Roman" panose="02020603050405020304" pitchFamily="18" charset="0"/>
              </a:rPr>
              <a:t>Calculate:</a:t>
            </a:r>
            <a:br>
              <a:rPr lang="en-US" sz="2800" dirty="0"/>
            </a:br>
            <a:r>
              <a:rPr lang="en-US" sz="2800" dirty="0">
                <a:solidFill>
                  <a:srgbClr val="000000"/>
                </a:solidFill>
                <a:latin typeface="Times New Roman" panose="02020603050405020304" pitchFamily="18" charset="0"/>
              </a:rPr>
              <a:t>(a.) Total price</a:t>
            </a:r>
            <a:br>
              <a:rPr lang="en-US" sz="2800" dirty="0"/>
            </a:br>
            <a:r>
              <a:rPr lang="en-US" sz="2800" dirty="0">
                <a:solidFill>
                  <a:srgbClr val="000000"/>
                </a:solidFill>
                <a:latin typeface="Times New Roman" panose="02020603050405020304" pitchFamily="18" charset="0"/>
              </a:rPr>
              <a:t>(b.) Initial price (Subtotal)</a:t>
            </a:r>
            <a:br>
              <a:rPr lang="en-US" sz="2800" dirty="0"/>
            </a:br>
            <a:r>
              <a:rPr lang="en-US" sz="2800" dirty="0">
                <a:solidFill>
                  <a:srgbClr val="000000"/>
                </a:solidFill>
                <a:latin typeface="Times New Roman" panose="02020603050405020304" pitchFamily="18" charset="0"/>
              </a:rPr>
              <a:t>(c.) Tax rate</a:t>
            </a:r>
            <a:endParaRPr lang="en-US" sz="2500" dirty="0">
              <a:solidFill>
                <a:srgbClr val="000000"/>
              </a:solidFill>
              <a:latin typeface="Times New Roman" panose="02020603050405020304" pitchFamily="18" charset="0"/>
              <a:cs typeface="Times New Roman" panose="02020603050405020304" pitchFamily="18" charset="0"/>
            </a:endParaRPr>
          </a:p>
        </p:txBody>
      </p:sp>
      <p:pic>
        <p:nvPicPr>
          <p:cNvPr id="7170" name="Picture 2" descr="Case 5">
            <a:extLst>
              <a:ext uri="{FF2B5EF4-FFF2-40B4-BE49-F238E27FC236}">
                <a16:creationId xmlns:a16="http://schemas.microsoft.com/office/drawing/2014/main" id="{0E003D96-EB80-4613-BE5A-1BB2A27C4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269516"/>
            <a:ext cx="8310467" cy="1015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619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904560" cy="10126747"/>
          </a:xfrm>
          <a:prstGeom prst="rect">
            <a:avLst/>
          </a:prstGeom>
        </p:spPr>
        <p:txBody>
          <a:bodyPr vert="horz" wrap="square" lIns="0" tIns="5080" rIns="0" bIns="0" rtlCol="0">
            <a:spAutoFit/>
          </a:bodyPr>
          <a:lstStyle/>
          <a:p>
            <a:pPr marL="12700" marR="17780" lvl="0">
              <a:lnSpc>
                <a:spcPct val="150000"/>
              </a:lnSpc>
              <a:spcBef>
                <a:spcPts val="100"/>
              </a:spcBef>
            </a:pPr>
            <a:r>
              <a:rPr lang="en-US" sz="2100" b="1" dirty="0">
                <a:solidFill>
                  <a:srgbClr val="000000"/>
                </a:solidFill>
                <a:latin typeface="Times New Roman" panose="02020603050405020304" pitchFamily="18" charset="0"/>
              </a:rPr>
              <a:t>Case 6:</a:t>
            </a:r>
            <a:r>
              <a:rPr lang="en-US" sz="2100" dirty="0">
                <a:solidFill>
                  <a:srgbClr val="000000"/>
                </a:solidFill>
                <a:latin typeface="Times New Roman" panose="02020603050405020304" pitchFamily="18" charset="0"/>
              </a:rPr>
              <a:t> As at March 2024, the City of Harrisonburg in the State of Virginia charges 1% sales tax on raw foods and fruits and a high tax rate on cooked food.</a:t>
            </a:r>
            <a:br>
              <a:rPr lang="en-US" sz="2100" dirty="0"/>
            </a:br>
            <a:r>
              <a:rPr lang="en-US" sz="2100" dirty="0">
                <a:solidFill>
                  <a:srgbClr val="000000"/>
                </a:solidFill>
                <a:latin typeface="Times New Roman" panose="02020603050405020304" pitchFamily="18" charset="0"/>
              </a:rPr>
              <a:t>(</a:t>
            </a:r>
            <a:r>
              <a:rPr lang="en-US" sz="2100" i="1" dirty="0">
                <a:solidFill>
                  <a:srgbClr val="000000"/>
                </a:solidFill>
                <a:latin typeface="Times New Roman" panose="02020603050405020304" pitchFamily="18" charset="0"/>
              </a:rPr>
              <a:t>I guess they want Virginians to cook their meals.</a:t>
            </a:r>
            <a:r>
              <a:rPr lang="en-US" sz="2100" dirty="0">
                <a:solidFill>
                  <a:srgbClr val="000000"/>
                </a:solidFill>
                <a:latin typeface="Times New Roman" panose="02020603050405020304" pitchFamily="18" charset="0"/>
              </a:rPr>
              <a:t>)</a:t>
            </a:r>
            <a:br>
              <a:rPr lang="en-US" sz="2100" dirty="0"/>
            </a:br>
            <a:r>
              <a:rPr lang="en-US" sz="2100" dirty="0">
                <a:solidFill>
                  <a:srgbClr val="000000"/>
                </a:solidFill>
                <a:latin typeface="Times New Roman" panose="02020603050405020304" pitchFamily="18" charset="0"/>
              </a:rPr>
              <a:t>Chukwuemeka was hungry and decided to buy hot food at Walmart.</a:t>
            </a:r>
            <a:br>
              <a:rPr lang="en-US" sz="2100" dirty="0"/>
            </a:br>
            <a:r>
              <a:rPr lang="en-US" sz="2100" dirty="0">
                <a:solidFill>
                  <a:srgbClr val="000000"/>
                </a:solidFill>
                <a:latin typeface="Times New Roman" panose="02020603050405020304" pitchFamily="18" charset="0"/>
              </a:rPr>
              <a:t>The hot food is high in calories and is a source of carbohydrates (carbs).</a:t>
            </a:r>
            <a:br>
              <a:rPr lang="en-US" sz="2100" dirty="0"/>
            </a:br>
            <a:r>
              <a:rPr lang="en-US" sz="2100" dirty="0">
                <a:solidFill>
                  <a:srgbClr val="000000"/>
                </a:solidFill>
                <a:latin typeface="Times New Roman" panose="02020603050405020304" pitchFamily="18" charset="0"/>
              </a:rPr>
              <a:t>He also decided to buy a bag of fresh oranges to provide essential vitamins.</a:t>
            </a:r>
            <a:br>
              <a:rPr lang="en-US" sz="2100" dirty="0"/>
            </a:br>
            <a:r>
              <a:rPr lang="en-US" sz="2100" dirty="0">
                <a:solidFill>
                  <a:srgbClr val="000000"/>
                </a:solidFill>
                <a:latin typeface="Times New Roman" panose="02020603050405020304" pitchFamily="18" charset="0"/>
              </a:rPr>
              <a:t>The receipt shows three tax rates: the tax rate on the oranges (shown) and two different tax rates on the hot food (not shown).</a:t>
            </a:r>
            <a:br>
              <a:rPr lang="en-US" sz="2100" dirty="0"/>
            </a:br>
            <a:r>
              <a:rPr lang="en-US" sz="2100" u="sng" dirty="0">
                <a:solidFill>
                  <a:srgbClr val="000000"/>
                </a:solidFill>
                <a:latin typeface="Times New Roman" panose="02020603050405020304" pitchFamily="18" charset="0"/>
              </a:rPr>
              <a:t>Given:</a:t>
            </a:r>
            <a:br>
              <a:rPr lang="en-US" sz="2100" dirty="0"/>
            </a:br>
            <a:r>
              <a:rPr lang="en-US" sz="2100" dirty="0">
                <a:solidFill>
                  <a:srgbClr val="000000"/>
                </a:solidFill>
                <a:latin typeface="Times New Roman" panose="02020603050405020304" pitchFamily="18" charset="0"/>
              </a:rPr>
              <a:t>(I.) Initial price of the bag of oranges</a:t>
            </a:r>
            <a:br>
              <a:rPr lang="en-US" sz="2100" dirty="0"/>
            </a:br>
            <a:r>
              <a:rPr lang="en-US" sz="2100" dirty="0">
                <a:solidFill>
                  <a:srgbClr val="000000"/>
                </a:solidFill>
                <a:latin typeface="Times New Roman" panose="02020603050405020304" pitchFamily="18" charset="0"/>
              </a:rPr>
              <a:t>(II.) Initial price of the hot food</a:t>
            </a:r>
            <a:br>
              <a:rPr lang="en-US" sz="2100" dirty="0"/>
            </a:br>
            <a:r>
              <a:rPr lang="en-US" sz="2100" dirty="0">
                <a:solidFill>
                  <a:srgbClr val="000000"/>
                </a:solidFill>
                <a:latin typeface="Times New Roman" panose="02020603050405020304" pitchFamily="18" charset="0"/>
              </a:rPr>
              <a:t>(III.) Tax rate on the bag of oranges</a:t>
            </a:r>
            <a:br>
              <a:rPr lang="en-US" sz="2100" dirty="0"/>
            </a:br>
            <a:r>
              <a:rPr lang="en-US" sz="2100" dirty="0">
                <a:solidFill>
                  <a:srgbClr val="000000"/>
                </a:solidFill>
                <a:latin typeface="Times New Roman" panose="02020603050405020304" pitchFamily="18" charset="0"/>
              </a:rPr>
              <a:t>(IV.) Tax on the bag of oranges</a:t>
            </a:r>
            <a:br>
              <a:rPr lang="en-US" sz="2100" dirty="0"/>
            </a:br>
            <a:r>
              <a:rPr lang="en-US" sz="2100" dirty="0">
                <a:solidFill>
                  <a:srgbClr val="000000"/>
                </a:solidFill>
                <a:latin typeface="Times New Roman" panose="02020603050405020304" pitchFamily="18" charset="0"/>
              </a:rPr>
              <a:t>(V.) 1st tax on the hot food (Use $0.39591)</a:t>
            </a:r>
            <a:br>
              <a:rPr lang="en-US" sz="2100" dirty="0"/>
            </a:br>
            <a:r>
              <a:rPr lang="en-US" sz="2100" dirty="0">
                <a:solidFill>
                  <a:srgbClr val="000000"/>
                </a:solidFill>
                <a:latin typeface="Times New Roman" panose="02020603050405020304" pitchFamily="18" charset="0"/>
              </a:rPr>
              <a:t>(VI.) 2nd tax on the hot food (Use $0.5229)</a:t>
            </a:r>
            <a:br>
              <a:rPr lang="en-US" sz="2100" dirty="0"/>
            </a:br>
            <a:br>
              <a:rPr lang="en-US" sz="2100" dirty="0"/>
            </a:br>
            <a:r>
              <a:rPr lang="en-US" sz="2100" u="sng" dirty="0">
                <a:solidFill>
                  <a:srgbClr val="000000"/>
                </a:solidFill>
                <a:latin typeface="Times New Roman" panose="02020603050405020304" pitchFamily="18" charset="0"/>
              </a:rPr>
              <a:t>Calculate:</a:t>
            </a:r>
            <a:br>
              <a:rPr lang="en-US" sz="2100" dirty="0"/>
            </a:br>
            <a:r>
              <a:rPr lang="en-US" sz="2100" dirty="0">
                <a:solidFill>
                  <a:srgbClr val="000000"/>
                </a:solidFill>
                <a:latin typeface="Times New Roman" panose="02020603050405020304" pitchFamily="18" charset="0"/>
              </a:rPr>
              <a:t>(a.) Subtotal (Sum of the initial prices)</a:t>
            </a:r>
            <a:br>
              <a:rPr lang="en-US" sz="2100" dirty="0"/>
            </a:br>
            <a:r>
              <a:rPr lang="en-US" sz="2100" dirty="0">
                <a:solidFill>
                  <a:srgbClr val="000000"/>
                </a:solidFill>
                <a:latin typeface="Times New Roman" panose="02020603050405020304" pitchFamily="18" charset="0"/>
              </a:rPr>
              <a:t>(b.) 1st tax rate on the hot food</a:t>
            </a:r>
            <a:br>
              <a:rPr lang="en-US" sz="2100" dirty="0"/>
            </a:br>
            <a:r>
              <a:rPr lang="en-US" sz="2100" dirty="0">
                <a:solidFill>
                  <a:srgbClr val="000000"/>
                </a:solidFill>
                <a:latin typeface="Times New Roman" panose="02020603050405020304" pitchFamily="18" charset="0"/>
              </a:rPr>
              <a:t>(c.) 2nd tax rate on the hot food</a:t>
            </a:r>
            <a:br>
              <a:rPr lang="en-US" sz="2100" dirty="0"/>
            </a:br>
            <a:r>
              <a:rPr lang="en-US" sz="2100" dirty="0">
                <a:solidFill>
                  <a:srgbClr val="000000"/>
                </a:solidFill>
                <a:latin typeface="Times New Roman" panose="02020603050405020304" pitchFamily="18" charset="0"/>
              </a:rPr>
              <a:t>(d.) Total price</a:t>
            </a:r>
            <a:endParaRPr lang="en-US" sz="2100" dirty="0">
              <a:solidFill>
                <a:srgbClr val="000000"/>
              </a:solidFill>
              <a:latin typeface="Times New Roman" panose="02020603050405020304" pitchFamily="18" charset="0"/>
              <a:cs typeface="Times New Roman" panose="02020603050405020304" pitchFamily="18" charset="0"/>
            </a:endParaRPr>
          </a:p>
        </p:txBody>
      </p:sp>
      <p:pic>
        <p:nvPicPr>
          <p:cNvPr id="8194" name="Picture 2" descr="Case 6">
            <a:extLst>
              <a:ext uri="{FF2B5EF4-FFF2-40B4-BE49-F238E27FC236}">
                <a16:creationId xmlns:a16="http://schemas.microsoft.com/office/drawing/2014/main" id="{1D0BFBC5-A7E8-4878-A3CC-388287D78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91164" y="269517"/>
            <a:ext cx="7532545" cy="10126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064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9539784" cy="8368445"/>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rPr>
              <a:t>Case 7:</a:t>
            </a:r>
            <a:r>
              <a:rPr lang="en-US" sz="2800" dirty="0">
                <a:solidFill>
                  <a:srgbClr val="000000"/>
                </a:solidFill>
                <a:latin typeface="Times New Roman" panose="02020603050405020304" pitchFamily="18" charset="0"/>
              </a:rPr>
              <a:t> </a:t>
            </a:r>
          </a:p>
          <a:p>
            <a:pPr marL="12700" marR="17780" lvl="0">
              <a:lnSpc>
                <a:spcPct val="150000"/>
              </a:lnSpc>
              <a:spcBef>
                <a:spcPts val="100"/>
              </a:spcBef>
            </a:pPr>
            <a:r>
              <a:rPr lang="en-US" sz="2800" dirty="0">
                <a:solidFill>
                  <a:srgbClr val="000000"/>
                </a:solidFill>
                <a:latin typeface="Times New Roman" panose="02020603050405020304" pitchFamily="18" charset="0"/>
              </a:rPr>
              <a:t>Samuel placed two different </a:t>
            </a:r>
            <a:r>
              <a:rPr lang="en-US" sz="2800" u="sng" dirty="0">
                <a:solidFill>
                  <a:srgbClr val="000000"/>
                </a:solidFill>
                <a:latin typeface="Times New Roman" panose="02020603050405020304" pitchFamily="18" charset="0"/>
              </a:rPr>
              <a:t>online</a:t>
            </a:r>
            <a:r>
              <a:rPr lang="en-US" sz="2800" dirty="0">
                <a:solidFill>
                  <a:srgbClr val="000000"/>
                </a:solidFill>
                <a:latin typeface="Times New Roman" panose="02020603050405020304" pitchFamily="18" charset="0"/>
              </a:rPr>
              <a:t> orders on two different days on the Amazon website.</a:t>
            </a:r>
            <a:br>
              <a:rPr lang="en-US" sz="2800" dirty="0"/>
            </a:br>
            <a:r>
              <a:rPr lang="en-US" sz="2800" dirty="0">
                <a:solidFill>
                  <a:srgbClr val="000000"/>
                </a:solidFill>
                <a:latin typeface="Times New Roman" panose="02020603050405020304" pitchFamily="18" charset="0"/>
              </a:rPr>
              <a:t>The two different orders were sent to the same address in the State of Virginia.</a:t>
            </a:r>
            <a:br>
              <a:rPr lang="en-US" sz="2800" dirty="0"/>
            </a:br>
            <a:r>
              <a:rPr lang="en-US" sz="2800" dirty="0">
                <a:solidFill>
                  <a:srgbClr val="000000"/>
                </a:solidFill>
                <a:latin typeface="Times New Roman" panose="02020603050405020304" pitchFamily="18" charset="0"/>
              </a:rPr>
              <a:t>None of the orders has food or drinks.</a:t>
            </a:r>
            <a:br>
              <a:rPr lang="en-US" sz="2800" dirty="0"/>
            </a:br>
            <a:r>
              <a:rPr lang="en-US" sz="2800" dirty="0">
                <a:solidFill>
                  <a:srgbClr val="000000"/>
                </a:solidFill>
                <a:latin typeface="Times New Roman" panose="02020603050405020304" pitchFamily="18" charset="0"/>
              </a:rPr>
              <a:t>However, the orders were charged different tax rates.</a:t>
            </a:r>
          </a:p>
          <a:p>
            <a:pPr marL="12700" marR="17780" lvl="0">
              <a:lnSpc>
                <a:spcPct val="150000"/>
              </a:lnSpc>
              <a:spcBef>
                <a:spcPts val="100"/>
              </a:spcBef>
            </a:pP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12700" marR="17780" lvl="0">
              <a:lnSpc>
                <a:spcPct val="150000"/>
              </a:lnSpc>
              <a:spcBef>
                <a:spcPts val="100"/>
              </a:spcBef>
            </a:pPr>
            <a:r>
              <a:rPr lang="en-US" sz="2800" dirty="0">
                <a:solidFill>
                  <a:srgbClr val="000000"/>
                </a:solidFill>
                <a:latin typeface="Times New Roman" panose="02020603050405020304" pitchFamily="18" charset="0"/>
              </a:rPr>
              <a:t>(a.) Calculate the tax rate for the 1st order.</a:t>
            </a:r>
            <a:br>
              <a:rPr lang="en-US" sz="2800" dirty="0"/>
            </a:br>
            <a:r>
              <a:rPr lang="en-US" sz="2800" dirty="0">
                <a:solidFill>
                  <a:srgbClr val="000000"/>
                </a:solidFill>
                <a:latin typeface="Times New Roman" panose="02020603050405020304" pitchFamily="18" charset="0"/>
              </a:rPr>
              <a:t>(b.) Calculate the tax rate for the 2nd order.</a:t>
            </a:r>
            <a:br>
              <a:rPr lang="en-US" sz="2800" dirty="0"/>
            </a:br>
            <a:r>
              <a:rPr lang="en-US" sz="2800" dirty="0">
                <a:solidFill>
                  <a:srgbClr val="000000"/>
                </a:solidFill>
                <a:latin typeface="Times New Roman" panose="02020603050405020304" pitchFamily="18" charset="0"/>
              </a:rPr>
              <a:t>(c.) Samuel asked you to explain why the tax rates were different.</a:t>
            </a:r>
            <a:br>
              <a:rPr lang="en-US" sz="2800" dirty="0"/>
            </a:br>
            <a:r>
              <a:rPr lang="en-US" sz="2800" dirty="0">
                <a:solidFill>
                  <a:srgbClr val="000000"/>
                </a:solidFill>
                <a:latin typeface="Times New Roman" panose="02020603050405020304" pitchFamily="18" charset="0"/>
              </a:rPr>
              <a:t>(i.) Ask Samuel at least one question in that regard.</a:t>
            </a:r>
            <a:br>
              <a:rPr lang="en-US" sz="2800" dirty="0"/>
            </a:br>
            <a:r>
              <a:rPr lang="en-US" sz="2800" dirty="0">
                <a:solidFill>
                  <a:srgbClr val="000000"/>
                </a:solidFill>
                <a:latin typeface="Times New Roman" panose="02020603050405020304" pitchFamily="18" charset="0"/>
              </a:rPr>
              <a:t>(ii.) Provide at least one explanation to Samuel.</a:t>
            </a: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9218" name="Picture 2" descr="Case 7-1st">
            <a:extLst>
              <a:ext uri="{FF2B5EF4-FFF2-40B4-BE49-F238E27FC236}">
                <a16:creationId xmlns:a16="http://schemas.microsoft.com/office/drawing/2014/main" id="{FC3402B4-982E-4350-A386-F798A9E5A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2911" y="1770770"/>
            <a:ext cx="3858999" cy="686719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Case 7-2nd">
            <a:extLst>
              <a:ext uri="{FF2B5EF4-FFF2-40B4-BE49-F238E27FC236}">
                <a16:creationId xmlns:a16="http://schemas.microsoft.com/office/drawing/2014/main" id="{6E6F8B30-6048-43C7-8101-D8F6737F2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32259" y="1770771"/>
            <a:ext cx="3728445" cy="686719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AF5A09-30F3-47F1-9B1D-1870C03A67CB}"/>
              </a:ext>
            </a:extLst>
          </p:cNvPr>
          <p:cNvSpPr txBox="1"/>
          <p:nvPr/>
        </p:nvSpPr>
        <p:spPr>
          <a:xfrm>
            <a:off x="10402911" y="1146412"/>
            <a:ext cx="7857793" cy="523220"/>
          </a:xfrm>
          <a:prstGeom prst="rect">
            <a:avLst/>
          </a:prstGeom>
          <a:noFill/>
        </p:spPr>
        <p:txBody>
          <a:bodyPr wrap="square" rtlCol="0">
            <a:spAutoFit/>
          </a:bodyPr>
          <a:lstStyle/>
          <a:p>
            <a:r>
              <a:rPr lang="en-US" dirty="0"/>
              <a:t>                      </a:t>
            </a:r>
            <a:r>
              <a:rPr lang="en-US" sz="2800" dirty="0">
                <a:latin typeface="Times New Roman" panose="02020603050405020304" pitchFamily="18" charset="0"/>
                <a:cs typeface="Times New Roman" panose="02020603050405020304" pitchFamily="18" charset="0"/>
              </a:rPr>
              <a:t>1</a:t>
            </a:r>
            <a:r>
              <a:rPr lang="en-US" sz="2800" baseline="30000" dirty="0">
                <a:latin typeface="Times New Roman" panose="02020603050405020304" pitchFamily="18" charset="0"/>
                <a:cs typeface="Times New Roman" panose="02020603050405020304" pitchFamily="18" charset="0"/>
              </a:rPr>
              <a:t>st</a:t>
            </a:r>
            <a:r>
              <a:rPr lang="en-US" sz="2800" dirty="0">
                <a:latin typeface="Times New Roman" panose="02020603050405020304" pitchFamily="18" charset="0"/>
                <a:cs typeface="Times New Roman" panose="02020603050405020304" pitchFamily="18" charset="0"/>
              </a:rPr>
              <a:t> Order                             2</a:t>
            </a:r>
            <a:r>
              <a:rPr lang="en-US" sz="2800" baseline="30000" dirty="0">
                <a:latin typeface="Times New Roman" panose="02020603050405020304" pitchFamily="18" charset="0"/>
                <a:cs typeface="Times New Roman" panose="02020603050405020304" pitchFamily="18" charset="0"/>
              </a:rPr>
              <a:t>nd</a:t>
            </a:r>
            <a:r>
              <a:rPr lang="en-US" sz="2800" dirty="0">
                <a:latin typeface="Times New Roman" panose="02020603050405020304" pitchFamily="18" charset="0"/>
                <a:cs typeface="Times New Roman" panose="02020603050405020304" pitchFamily="18" charset="0"/>
              </a:rPr>
              <a:t> Order</a:t>
            </a:r>
          </a:p>
        </p:txBody>
      </p:sp>
    </p:spTree>
    <p:extLst>
      <p:ext uri="{BB962C8B-B14F-4D97-AF65-F5344CB8AC3E}">
        <p14:creationId xmlns:p14="http://schemas.microsoft.com/office/powerpoint/2010/main" val="3139260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10464724"/>
          </a:xfrm>
          <a:prstGeom prst="rect">
            <a:avLst/>
          </a:prstGeom>
        </p:spPr>
        <p:txBody>
          <a:bodyPr vert="horz" wrap="square" lIns="0" tIns="5080" rIns="0" bIns="0" rtlCol="0">
            <a:spAutoFit/>
          </a:bodyPr>
          <a:lstStyle/>
          <a:p>
            <a:pPr marL="12700" marR="17780" lvl="0">
              <a:lnSpc>
                <a:spcPct val="150000"/>
              </a:lnSpc>
              <a:spcBef>
                <a:spcPts val="100"/>
              </a:spcBef>
            </a:pPr>
            <a:r>
              <a:rPr lang="en-US" sz="2400" b="1" dirty="0">
                <a:solidFill>
                  <a:srgbClr val="000000"/>
                </a:solidFill>
                <a:latin typeface="Times New Roman" panose="02020603050405020304" pitchFamily="18" charset="0"/>
                <a:cs typeface="Times New Roman" panose="02020603050405020304" pitchFamily="18" charset="0"/>
              </a:rPr>
              <a:t>Case 8:</a:t>
            </a:r>
            <a:r>
              <a:rPr lang="en-US" sz="2400" dirty="0">
                <a:solidFill>
                  <a:srgbClr val="000000"/>
                </a:solidFill>
                <a:latin typeface="Times New Roman" panose="02020603050405020304" pitchFamily="18" charset="0"/>
                <a:cs typeface="Times New Roman" panose="02020603050405020304" pitchFamily="18" charset="0"/>
              </a:rPr>
              <a:t> </a:t>
            </a:r>
            <a:r>
              <a:rPr lang="en-US" sz="2400" u="sng" dirty="0">
                <a:solidFill>
                  <a:srgbClr val="000000"/>
                </a:solidFill>
                <a:latin typeface="Times New Roman" panose="02020603050405020304" pitchFamily="18" charset="0"/>
                <a:cs typeface="Times New Roman" panose="02020603050405020304" pitchFamily="18" charset="0"/>
              </a:rPr>
              <a:t>Given:</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(I.) Two items:</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2nd item is 20LB GV HML</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1st item is GE STRT JEA</a:t>
            </a:r>
            <a:br>
              <a:rPr lang="en-US" sz="2400" dirty="0">
                <a:latin typeface="Times New Roman" panose="02020603050405020304" pitchFamily="18" charset="0"/>
                <a:cs typeface="Times New Roman" panose="02020603050405020304" pitchFamily="18" charset="0"/>
              </a:rPr>
            </a:br>
            <a:r>
              <a:rPr lang="en-US" sz="2400" i="1" dirty="0">
                <a:solidFill>
                  <a:srgbClr val="000000"/>
                </a:solidFill>
                <a:latin typeface="Times New Roman" panose="02020603050405020304" pitchFamily="18" charset="0"/>
                <a:cs typeface="Times New Roman" panose="02020603050405020304" pitchFamily="18" charset="0"/>
              </a:rPr>
              <a:t>Note the interchange here as opposed to the receipt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(II.) Subtotal of the two items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(III.) Different tax rates for the two items</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(Tax 1 for the 1st item and Tax 2 for the 2nd item)</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(IV.) Different taxes for the two items</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(Use $0.84694 for the 1st item and $0.1674 for the 2nd item)</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(V.) Total price</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u="sng" dirty="0">
                <a:solidFill>
                  <a:srgbClr val="000000"/>
                </a:solidFill>
                <a:latin typeface="Times New Roman" panose="02020603050405020304" pitchFamily="18" charset="0"/>
                <a:cs typeface="Times New Roman" panose="02020603050405020304" pitchFamily="18" charset="0"/>
              </a:rPr>
              <a:t>Calculate:</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(a.) Initial price of the 1st item</a:t>
            </a:r>
            <a:br>
              <a:rPr lang="en-US" sz="2400" dirty="0">
                <a:latin typeface="Times New Roman" panose="02020603050405020304" pitchFamily="18" charset="0"/>
                <a:cs typeface="Times New Roman" panose="02020603050405020304" pitchFamily="18" charset="0"/>
              </a:rPr>
            </a:br>
            <a:r>
              <a:rPr lang="en-US" sz="2400" dirty="0">
                <a:solidFill>
                  <a:srgbClr val="000000"/>
                </a:solidFill>
                <a:latin typeface="Times New Roman" panose="02020603050405020304" pitchFamily="18" charset="0"/>
                <a:cs typeface="Times New Roman" panose="02020603050405020304" pitchFamily="18" charset="0"/>
              </a:rPr>
              <a:t>(b.) Initial price of the 2nd item</a:t>
            </a:r>
            <a:endPar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pic>
        <p:nvPicPr>
          <p:cNvPr id="10242" name="Picture 2" descr="Case 8">
            <a:extLst>
              <a:ext uri="{FF2B5EF4-FFF2-40B4-BE49-F238E27FC236}">
                <a16:creationId xmlns:a16="http://schemas.microsoft.com/office/drawing/2014/main" id="{EDB61314-D86E-4DD2-BC45-758E6C224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269516"/>
            <a:ext cx="8310467" cy="10423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987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86604" y="269517"/>
            <a:ext cx="10126638" cy="6403804"/>
          </a:xfrm>
          <a:prstGeom prst="rect">
            <a:avLst/>
          </a:prstGeom>
        </p:spPr>
        <p:txBody>
          <a:bodyPr vert="horz" wrap="square" lIns="0" tIns="5080" rIns="0" bIns="0" rtlCol="0">
            <a:spAutoFit/>
          </a:bodyPr>
          <a:lstStyle/>
          <a:p>
            <a:pPr marL="12700" marR="17780" lvl="0">
              <a:lnSpc>
                <a:spcPct val="150000"/>
              </a:lnSpc>
              <a:spcBef>
                <a:spcPts val="100"/>
              </a:spcBef>
            </a:pPr>
            <a:r>
              <a:rPr lang="en-US" sz="2800" b="1" dirty="0">
                <a:solidFill>
                  <a:srgbClr val="000000"/>
                </a:solidFill>
                <a:latin typeface="Times New Roman" panose="02020603050405020304" pitchFamily="18" charset="0"/>
              </a:rPr>
              <a:t>Case 9:</a:t>
            </a:r>
            <a:r>
              <a:rPr lang="en-US" sz="2800" dirty="0">
                <a:solidFill>
                  <a:srgbClr val="000000"/>
                </a:solidFill>
                <a:latin typeface="Times New Roman" panose="02020603050405020304" pitchFamily="18" charset="0"/>
              </a:rPr>
              <a:t> </a:t>
            </a:r>
          </a:p>
          <a:p>
            <a:pPr marL="12700" marR="17780" lvl="0">
              <a:lnSpc>
                <a:spcPct val="150000"/>
              </a:lnSpc>
              <a:spcBef>
                <a:spcPts val="100"/>
              </a:spcBef>
            </a:pPr>
            <a:r>
              <a:rPr lang="en-US" sz="2800" u="sng" dirty="0">
                <a:solidFill>
                  <a:srgbClr val="000000"/>
                </a:solidFill>
                <a:latin typeface="Times New Roman" panose="02020603050405020304" pitchFamily="18" charset="0"/>
              </a:rPr>
              <a:t>Given:</a:t>
            </a:r>
            <a:br>
              <a:rPr lang="en-US" sz="2800" dirty="0"/>
            </a:br>
            <a:r>
              <a:rPr lang="en-US" sz="2800" dirty="0">
                <a:solidFill>
                  <a:srgbClr val="000000"/>
                </a:solidFill>
                <a:latin typeface="Times New Roman" panose="02020603050405020304" pitchFamily="18" charset="0"/>
              </a:rPr>
              <a:t>(I.) Initial price</a:t>
            </a:r>
            <a:br>
              <a:rPr lang="en-US" sz="2800" dirty="0"/>
            </a:br>
            <a:r>
              <a:rPr lang="en-US" sz="2800" dirty="0">
                <a:solidFill>
                  <a:srgbClr val="000000"/>
                </a:solidFill>
                <a:latin typeface="Times New Roman" panose="02020603050405020304" pitchFamily="18" charset="0"/>
              </a:rPr>
              <a:t>(II.) Discount</a:t>
            </a:r>
            <a:br>
              <a:rPr lang="en-US" sz="2800" dirty="0"/>
            </a:br>
            <a:r>
              <a:rPr lang="en-US" sz="2800" dirty="0">
                <a:solidFill>
                  <a:srgbClr val="000000"/>
                </a:solidFill>
                <a:latin typeface="Times New Roman" panose="02020603050405020304" pitchFamily="18" charset="0"/>
              </a:rPr>
              <a:t>(III.) Percent Discount</a:t>
            </a:r>
            <a:br>
              <a:rPr lang="en-US" sz="2800" dirty="0"/>
            </a:br>
            <a:r>
              <a:rPr lang="en-US" sz="2800" dirty="0">
                <a:solidFill>
                  <a:srgbClr val="000000"/>
                </a:solidFill>
                <a:latin typeface="Times New Roman" panose="02020603050405020304" pitchFamily="18" charset="0"/>
              </a:rPr>
              <a:t>(IV.) Sale price</a:t>
            </a:r>
            <a:br>
              <a:rPr lang="en-US" sz="2800" dirty="0"/>
            </a:br>
            <a:br>
              <a:rPr lang="en-US" sz="2800" dirty="0"/>
            </a:br>
            <a:r>
              <a:rPr lang="en-US" sz="2800" u="sng" dirty="0">
                <a:solidFill>
                  <a:srgbClr val="000000"/>
                </a:solidFill>
                <a:latin typeface="Times New Roman" panose="02020603050405020304" pitchFamily="18" charset="0"/>
              </a:rPr>
              <a:t>But:</a:t>
            </a:r>
            <a:br>
              <a:rPr lang="en-US" sz="2800" dirty="0"/>
            </a:br>
            <a:r>
              <a:rPr lang="en-US" sz="2800" dirty="0">
                <a:solidFill>
                  <a:srgbClr val="000000"/>
                </a:solidFill>
                <a:latin typeface="Times New Roman" panose="02020603050405020304" pitchFamily="18" charset="0"/>
              </a:rPr>
              <a:t>The percent discount on the label is an approximate value.</a:t>
            </a:r>
            <a:br>
              <a:rPr lang="en-US" sz="2800" dirty="0"/>
            </a:br>
            <a:r>
              <a:rPr lang="en-US" sz="2800" dirty="0">
                <a:solidFill>
                  <a:srgbClr val="000000"/>
                </a:solidFill>
                <a:latin typeface="Times New Roman" panose="02020603050405020304" pitchFamily="18" charset="0"/>
              </a:rPr>
              <a:t>Calculate the exact percent discount.</a:t>
            </a: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11266" name="Picture 2" descr="Case 9">
            <a:extLst>
              <a:ext uri="{FF2B5EF4-FFF2-40B4-BE49-F238E27FC236}">
                <a16:creationId xmlns:a16="http://schemas.microsoft.com/office/drawing/2014/main" id="{B09B10DD-01A6-42E5-8002-2F33FBAAA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242" y="320885"/>
            <a:ext cx="8310467" cy="10102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262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 4"/>
          <p:cNvSpPr txBox="1"/>
          <p:nvPr/>
        </p:nvSpPr>
        <p:spPr>
          <a:xfrm>
            <a:off x="775137" y="158857"/>
            <a:ext cx="7413519"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hlinkClick r:id="rId2"/>
              </a:rPr>
              <a:t>Algebra: Containers: Measurements and Units</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object 7"/>
          <p:cNvSpPr/>
          <p:nvPr/>
        </p:nvSpPr>
        <p:spPr>
          <a:xfrm>
            <a:off x="-1" y="84713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75138" y="1039280"/>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327546" y="1867280"/>
            <a:ext cx="18356239" cy="8630696"/>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The </a:t>
            </a:r>
            <a:r>
              <a:rPr lang="en-US" sz="2500" b="1" dirty="0">
                <a:solidFill>
                  <a:srgbClr val="000000"/>
                </a:solidFill>
                <a:latin typeface="Times New Roman" panose="02020603050405020304" pitchFamily="18" charset="0"/>
                <a:cs typeface="Times New Roman" panose="02020603050405020304" pitchFamily="18" charset="0"/>
              </a:rPr>
              <a:t>Measurements and Units</a:t>
            </a:r>
            <a:r>
              <a:rPr lang="en-US" sz="2500" dirty="0">
                <a:solidFill>
                  <a:srgbClr val="000000"/>
                </a:solidFill>
                <a:latin typeface="Times New Roman" panose="02020603050405020304" pitchFamily="18" charset="0"/>
                <a:cs typeface="Times New Roman" panose="02020603050405020304" pitchFamily="18" charset="0"/>
              </a:rPr>
              <a:t> project is designed to:</a:t>
            </a:r>
          </a:p>
          <a:p>
            <a:pPr marL="12700" marR="17780" lvl="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(1.) Meet one of the learning objectives of the VCCS (Virginia Community College System) standards for:</a:t>
            </a: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111: Basic Technical Mathematics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(Provides a foundation in mathematics with emphasis in arithmetic, </a:t>
            </a:r>
            <a:r>
              <a:rPr lang="en-US" sz="2500" b="1" i="1" dirty="0">
                <a:solidFill>
                  <a:srgbClr val="000000"/>
                </a:solidFill>
                <a:latin typeface="Times New Roman" panose="02020603050405020304" pitchFamily="18" charset="0"/>
                <a:cs typeface="Times New Roman" panose="02020603050405020304" pitchFamily="18" charset="0"/>
              </a:rPr>
              <a:t>unit conversion</a:t>
            </a:r>
            <a:r>
              <a:rPr lang="en-US" sz="2500" i="1" dirty="0">
                <a:solidFill>
                  <a:srgbClr val="000000"/>
                </a:solidFill>
                <a:latin typeface="Times New Roman" panose="02020603050405020304" pitchFamily="18" charset="0"/>
                <a:cs typeface="Times New Roman" panose="02020603050405020304" pitchFamily="18" charset="0"/>
              </a:rPr>
              <a:t>, basic algebra, geometry and trigonometry.).</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MTH 130: Fundamentals of Reasoning</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elementary concepts of algebra, linear graphing, financial literacy, descriptive statistics, and </a:t>
            </a:r>
            <a:r>
              <a:rPr lang="en-US" sz="2500" b="1" i="1" dirty="0">
                <a:solidFill>
                  <a:srgbClr val="000000"/>
                </a:solidFill>
                <a:latin typeface="Times New Roman" panose="02020603050405020304" pitchFamily="18" charset="0"/>
                <a:cs typeface="Times New Roman" panose="02020603050405020304" pitchFamily="18" charset="0"/>
              </a:rPr>
              <a:t>measurement</a:t>
            </a:r>
            <a:r>
              <a:rPr lang="en-US" sz="2500" i="1" dirty="0">
                <a:solidFill>
                  <a:srgbClr val="000000"/>
                </a:solidFill>
                <a:latin typeface="Times New Roman" panose="02020603050405020304" pitchFamily="18" charset="0"/>
                <a:cs typeface="Times New Roman" panose="02020603050405020304" pitchFamily="18" charset="0"/>
              </a:rPr>
              <a:t> &amp; geometry. ).</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MTH 131: Technical Mathematics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algebra through </a:t>
            </a:r>
            <a:r>
              <a:rPr lang="en-US" sz="2500" b="1" i="1" dirty="0">
                <a:solidFill>
                  <a:srgbClr val="000000"/>
                </a:solidFill>
                <a:latin typeface="Times New Roman" panose="02020603050405020304" pitchFamily="18" charset="0"/>
                <a:cs typeface="Times New Roman" panose="02020603050405020304" pitchFamily="18" charset="0"/>
              </a:rPr>
              <a:t>unit conversion</a:t>
            </a:r>
            <a:r>
              <a:rPr lang="en-US" sz="2500" i="1" dirty="0">
                <a:solidFill>
                  <a:srgbClr val="000000"/>
                </a:solidFill>
                <a:latin typeface="Times New Roman" panose="02020603050405020304" pitchFamily="18" charset="0"/>
                <a:cs typeface="Times New Roman" panose="02020603050405020304" pitchFamily="18" charset="0"/>
              </a:rPr>
              <a:t>, trigonometry, vectors, geometry, and complex numbers.)</a:t>
            </a:r>
            <a:r>
              <a:rPr kumimoji="0" lang="en-US" sz="25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p>
          <a:p>
            <a:pPr marL="12700" marR="17780" lvl="0">
              <a:lnSpc>
                <a:spcPct val="150000"/>
              </a:lnSpc>
              <a:spcBef>
                <a:spcPts val="100"/>
              </a:spcBef>
            </a:pPr>
            <a:endParaRPr lang="en-US" sz="2500" i="1" dirty="0">
              <a:solidFill>
                <a:srgbClr val="000000"/>
              </a:solidFill>
              <a:latin typeface="Times New Roman" panose="02020603050405020304" pitchFamily="18" charset="0"/>
              <a:cs typeface="Times New Roman" panose="02020603050405020304" pitchFamily="18" charset="0"/>
            </a:endParaRPr>
          </a:p>
          <a:p>
            <a:pPr marL="12700" marR="17780" lvl="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MTH 133: Mathematics for Health Professions</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in context the arithmetic of fractions and decimals, the </a:t>
            </a:r>
            <a:r>
              <a:rPr lang="en-US" sz="2500" b="1" i="1" dirty="0">
                <a:solidFill>
                  <a:srgbClr val="000000"/>
                </a:solidFill>
                <a:latin typeface="Times New Roman" panose="02020603050405020304" pitchFamily="18" charset="0"/>
                <a:cs typeface="Times New Roman" panose="02020603050405020304" pitchFamily="18" charset="0"/>
              </a:rPr>
              <a:t>metric system and dimensional analysis</a:t>
            </a:r>
            <a:r>
              <a:rPr lang="en-US" sz="2500" i="1" dirty="0">
                <a:solidFill>
                  <a:srgbClr val="000000"/>
                </a:solidFill>
                <a:latin typeface="Times New Roman" panose="02020603050405020304" pitchFamily="18" charset="0"/>
                <a:cs typeface="Times New Roman" panose="02020603050405020304" pitchFamily="18" charset="0"/>
              </a:rPr>
              <a:t>, </a:t>
            </a:r>
            <a:r>
              <a:rPr lang="en-US" sz="2500" i="1" dirty="0" err="1">
                <a:solidFill>
                  <a:srgbClr val="000000"/>
                </a:solidFill>
                <a:latin typeface="Times New Roman" panose="02020603050405020304" pitchFamily="18" charset="0"/>
                <a:cs typeface="Times New Roman" panose="02020603050405020304" pitchFamily="18" charset="0"/>
              </a:rPr>
              <a:t>percents</a:t>
            </a:r>
            <a:r>
              <a:rPr lang="en-US" sz="2500" i="1" dirty="0">
                <a:solidFill>
                  <a:srgbClr val="000000"/>
                </a:solidFill>
                <a:latin typeface="Times New Roman" panose="02020603050405020304" pitchFamily="18" charset="0"/>
                <a:cs typeface="Times New Roman" panose="02020603050405020304" pitchFamily="18" charset="0"/>
              </a:rPr>
              <a:t>, </a:t>
            </a:r>
            <a:r>
              <a:rPr lang="en-US" sz="2500" b="1" i="1" dirty="0">
                <a:solidFill>
                  <a:srgbClr val="000000"/>
                </a:solidFill>
                <a:latin typeface="Times New Roman" panose="02020603050405020304" pitchFamily="18" charset="0"/>
                <a:cs typeface="Times New Roman" panose="02020603050405020304" pitchFamily="18" charset="0"/>
              </a:rPr>
              <a:t>ratio and proportion</a:t>
            </a:r>
            <a:r>
              <a:rPr lang="en-US" sz="2500" i="1" dirty="0">
                <a:solidFill>
                  <a:srgbClr val="000000"/>
                </a:solidFill>
                <a:latin typeface="Times New Roman" panose="02020603050405020304" pitchFamily="18" charset="0"/>
                <a:cs typeface="Times New Roman" panose="02020603050405020304" pitchFamily="18" charset="0"/>
              </a:rPr>
              <a:t>, linear equations, topics in statistics, topics in geometry, logarithms, topics in health professions including </a:t>
            </a:r>
            <a:r>
              <a:rPr lang="en-US" sz="2500" b="1" i="1" dirty="0">
                <a:solidFill>
                  <a:srgbClr val="000000"/>
                </a:solidFill>
                <a:latin typeface="Times New Roman" panose="02020603050405020304" pitchFamily="18" charset="0"/>
                <a:cs typeface="Times New Roman" panose="02020603050405020304" pitchFamily="18" charset="0"/>
              </a:rPr>
              <a:t>dosages, dilutions and IV flow rates</a:t>
            </a:r>
            <a:r>
              <a:rPr lang="en-US" sz="2500" i="1" dirty="0">
                <a:solidFill>
                  <a:srgbClr val="000000"/>
                </a:solidFill>
                <a:latin typeface="Times New Roman" panose="02020603050405020304" pitchFamily="18" charset="0"/>
                <a:cs typeface="Times New Roman" panose="02020603050405020304" pitchFamily="18" charset="0"/>
              </a:rPr>
              <a:t>.).</a:t>
            </a:r>
            <a:endParaRPr kumimoji="0" lang="en-US" sz="2500" b="0" i="1" u="none" strike="noStrike" kern="1200" cap="none" spc="-5"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511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 (Continued)</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17919508" cy="7489358"/>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MTH 154: Quantitative Reasoning</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[Solve real-life problems requiring interpretation and comparison of various representations of ratios (i.e., fractions, decimals, rates, and percentages including part to part and part to whole, per capita data, growth and decay via absolute and relative change)].</a:t>
            </a:r>
          </a:p>
          <a:p>
            <a:pPr marL="12700" marR="17780" lvl="0">
              <a:lnSpc>
                <a:spcPct val="150000"/>
              </a:lnSpc>
              <a:spcBef>
                <a:spcPts val="100"/>
              </a:spcBef>
            </a:pPr>
            <a:endParaRPr lang="en-US" sz="2500" dirty="0">
              <a:solidFill>
                <a:srgbClr val="000000"/>
              </a:solidFill>
              <a:latin typeface="Times New Roman" panose="02020603050405020304" pitchFamily="18" charset="0"/>
              <a:cs typeface="Times New Roman" panose="02020603050405020304" pitchFamily="18" charset="0"/>
            </a:endParaRP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 Meet the QM (Quality Matters) and USDOE (United States Department of Education) requirements for distance education as regards the provision of RSI (Regular and Substantive Interaction).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Federal Register: Distance Education and Innovation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St. John's University: New Federal Requirements for Distance Education: Regular and Substantive Interaction (RSI)</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Student – Content Interaction: Very high</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Student – Student Interaction: Flexible</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Student – Faculty Interaction: Flexible</a:t>
            </a:r>
          </a:p>
          <a:p>
            <a:pPr marL="12700" marR="17780" lvl="0" indent="0" algn="l" defTabSz="457200" rtl="0" eaLnBrk="1" fontAlgn="auto" latinLnBrk="0" hangingPunct="1">
              <a:lnSpc>
                <a:spcPct val="150000"/>
              </a:lnSpc>
              <a:spcBef>
                <a:spcPts val="100"/>
              </a:spcBef>
              <a:spcAft>
                <a:spcPts val="0"/>
              </a:spcAft>
              <a:buClrTx/>
              <a:buSzTx/>
              <a:buFontTx/>
              <a:buNone/>
              <a:tabLst/>
              <a:defRPr/>
            </a:pP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12700" marR="17780" lvl="0">
              <a:lnSpc>
                <a:spcPct val="150000"/>
              </a:lnSpc>
              <a:spcBef>
                <a:spcPts val="100"/>
              </a:spcBef>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(3.) </a:t>
            </a:r>
            <a:r>
              <a:rPr lang="en-US" sz="2500" dirty="0">
                <a:solidFill>
                  <a:srgbClr val="000000"/>
                </a:solidFill>
                <a:latin typeface="Times New Roman" panose="02020603050405020304" pitchFamily="18" charset="0"/>
                <a:cs typeface="Times New Roman" panose="02020603050405020304" pitchFamily="18" charset="0"/>
              </a:rPr>
              <a:t>Convert between International Metric System of units and United States Customary System of units</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0308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Container Used: Soap container</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7533563" cy="1692899"/>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Calculations</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lang="en-US" sz="2500" u="sng" dirty="0">
                <a:solidFill>
                  <a:srgbClr val="000000"/>
                </a:solidFill>
                <a:latin typeface="Times New Roman" panose="02020603050405020304" pitchFamily="18" charset="0"/>
                <a:cs typeface="Times New Roman" panose="02020603050405020304" pitchFamily="18" charset="0"/>
              </a:rPr>
              <a:t>First Conversion</a:t>
            </a:r>
            <a:r>
              <a:rPr lang="en-US" sz="2500" dirty="0">
                <a:solidFill>
                  <a:srgbClr val="000000"/>
                </a:solidFill>
                <a:latin typeface="Times New Roman" panose="02020603050405020304" pitchFamily="18" charset="0"/>
                <a:cs typeface="Times New Roman" panose="02020603050405020304" pitchFamily="18" charset="0"/>
              </a:rPr>
              <a:t>: Convert 4.25 ounce to gram.</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sng"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Second Conversion</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Convert 120 gram</a:t>
            </a:r>
            <a:r>
              <a:rPr lang="en-US" sz="2500" dirty="0">
                <a:solidFill>
                  <a:srgbClr val="000000"/>
                </a:solidFill>
                <a:latin typeface="Times New Roman" panose="02020603050405020304" pitchFamily="18" charset="0"/>
                <a:cs typeface="Times New Roman" panose="02020603050405020304" pitchFamily="18" charset="0"/>
              </a:rPr>
              <a:t>s to ounce.</a:t>
            </a: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object 7">
            <a:extLst>
              <a:ext uri="{FF2B5EF4-FFF2-40B4-BE49-F238E27FC236}">
                <a16:creationId xmlns:a16="http://schemas.microsoft.com/office/drawing/2014/main" id="{72DCDACB-42B0-4984-9C1E-DBCF4267F7AA}"/>
              </a:ext>
            </a:extLst>
          </p:cNvPr>
          <p:cNvSpPr/>
          <p:nvPr/>
        </p:nvSpPr>
        <p:spPr>
          <a:xfrm>
            <a:off x="0" y="5524833"/>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endParaRPr dirty="0"/>
          </a:p>
        </p:txBody>
      </p:sp>
      <p:sp>
        <p:nvSpPr>
          <p:cNvPr id="8" name="object 9">
            <a:extLst>
              <a:ext uri="{FF2B5EF4-FFF2-40B4-BE49-F238E27FC236}">
                <a16:creationId xmlns:a16="http://schemas.microsoft.com/office/drawing/2014/main" id="{2781A93B-17B8-4F7E-A16A-D3E27F65BA8F}"/>
              </a:ext>
            </a:extLst>
          </p:cNvPr>
          <p:cNvSpPr txBox="1"/>
          <p:nvPr/>
        </p:nvSpPr>
        <p:spPr>
          <a:xfrm>
            <a:off x="286604" y="5716977"/>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latin typeface="Times New Roman" panose="02020603050405020304" pitchFamily="18" charset="0"/>
                <a:cs typeface="Times New Roman" panose="02020603050405020304" pitchFamily="18" charset="0"/>
                <a:hlinkClick r:id="rId2"/>
              </a:rPr>
              <a:t>Students Projects</a:t>
            </a:r>
            <a:endParaRPr lang="cs-CZ" sz="2800" dirty="0">
              <a:latin typeface="Times New Roman" panose="02020603050405020304" pitchFamily="18" charset="0"/>
              <a:cs typeface="Times New Roman" panose="02020603050405020304" pitchFamily="18" charset="0"/>
            </a:endParaRPr>
          </a:p>
        </p:txBody>
      </p:sp>
      <p:pic>
        <p:nvPicPr>
          <p:cNvPr id="12290" name="Picture 2" descr="soap container">
            <a:extLst>
              <a:ext uri="{FF2B5EF4-FFF2-40B4-BE49-F238E27FC236}">
                <a16:creationId xmlns:a16="http://schemas.microsoft.com/office/drawing/2014/main" id="{DB85E21B-76C3-47CC-AE5D-B7018A939A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819858" y="0"/>
            <a:ext cx="5811837" cy="10693400"/>
          </a:xfrm>
          <a:prstGeom prst="rect">
            <a:avLst/>
          </a:prstGeom>
          <a:noFill/>
          <a:extLst>
            <a:ext uri="{909E8E84-426E-40DD-AFC4-6F175D3DCCD1}">
              <a14:hiddenFill xmlns:a14="http://schemas.microsoft.com/office/drawing/2010/main">
                <a:solidFill>
                  <a:srgbClr val="FFFFFF"/>
                </a:solidFill>
              </a14:hiddenFill>
            </a:ext>
          </a:extLst>
        </p:spPr>
      </p:pic>
      <p:sp>
        <p:nvSpPr>
          <p:cNvPr id="10" name="object 7">
            <a:extLst>
              <a:ext uri="{FF2B5EF4-FFF2-40B4-BE49-F238E27FC236}">
                <a16:creationId xmlns:a16="http://schemas.microsoft.com/office/drawing/2014/main" id="{8FF8F287-65D1-443B-9B1A-A3E5C8D133FA}"/>
              </a:ext>
            </a:extLst>
          </p:cNvPr>
          <p:cNvSpPr/>
          <p:nvPr/>
        </p:nvSpPr>
        <p:spPr>
          <a:xfrm>
            <a:off x="0" y="364726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endParaRPr dirty="0"/>
          </a:p>
        </p:txBody>
      </p:sp>
      <p:sp>
        <p:nvSpPr>
          <p:cNvPr id="11" name="object 9">
            <a:extLst>
              <a:ext uri="{FF2B5EF4-FFF2-40B4-BE49-F238E27FC236}">
                <a16:creationId xmlns:a16="http://schemas.microsoft.com/office/drawing/2014/main" id="{6A3F0920-4851-45B8-B18E-EAE71F6C0ED0}"/>
              </a:ext>
            </a:extLst>
          </p:cNvPr>
          <p:cNvSpPr txBox="1"/>
          <p:nvPr/>
        </p:nvSpPr>
        <p:spPr>
          <a:xfrm>
            <a:off x="378618" y="3897082"/>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latin typeface="Times New Roman" panose="02020603050405020304" pitchFamily="18" charset="0"/>
                <a:cs typeface="Times New Roman" panose="02020603050405020304" pitchFamily="18" charset="0"/>
                <a:hlinkClick r:id="rId4"/>
              </a:rPr>
              <a:t>Only Required Tables</a:t>
            </a:r>
            <a:endParaRPr lang="cs-CZ"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513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 4"/>
          <p:cNvSpPr txBox="1"/>
          <p:nvPr/>
        </p:nvSpPr>
        <p:spPr>
          <a:xfrm>
            <a:off x="775137" y="158857"/>
            <a:ext cx="7413519"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lang="en-US" sz="3000" dirty="0" err="1">
                <a:solidFill>
                  <a:srgbClr val="FFFFFF"/>
                </a:solidFill>
                <a:latin typeface="Times New Roman" panose="02020603050405020304" pitchFamily="18" charset="0"/>
                <a:cs typeface="Times New Roman" panose="02020603050405020304" pitchFamily="18" charset="0"/>
                <a:hlinkClick r:id="rId2"/>
              </a:rPr>
              <a:t>PreCalculus</a:t>
            </a:r>
            <a:r>
              <a:rPr lang="en-US" sz="3000" dirty="0">
                <a:solidFill>
                  <a:srgbClr val="FFFFFF"/>
                </a:solidFill>
                <a:latin typeface="Times New Roman" panose="02020603050405020304" pitchFamily="18" charset="0"/>
                <a:cs typeface="Times New Roman" panose="02020603050405020304" pitchFamily="18" charset="0"/>
                <a:hlinkClick r:id="rId2"/>
              </a:rPr>
              <a:t>: Piecewise Function: Power Bill</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object 7"/>
          <p:cNvSpPr/>
          <p:nvPr/>
        </p:nvSpPr>
        <p:spPr>
          <a:xfrm>
            <a:off x="0" y="5256707"/>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5448851"/>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177421" y="6555708"/>
            <a:ext cx="18356239" cy="3098412"/>
          </a:xfrm>
          <a:prstGeom prst="rect">
            <a:avLst/>
          </a:prstGeom>
        </p:spPr>
        <p:txBody>
          <a:bodyPr vert="horz" wrap="square" lIns="0" tIns="5080" rIns="0" bIns="0" rtlCol="0">
            <a:spAutoFit/>
          </a:bodyPr>
          <a:lstStyle/>
          <a:p>
            <a:pPr marL="12700" marR="17780" lvl="0">
              <a:lnSpc>
                <a:spcPct val="150000"/>
              </a:lnSpc>
              <a:spcBef>
                <a:spcPts val="100"/>
              </a:spcBef>
            </a:pPr>
            <a:r>
              <a:rPr lang="en-US" sz="2800" dirty="0">
                <a:solidFill>
                  <a:srgbClr val="000000"/>
                </a:solidFill>
                <a:latin typeface="Times New Roman" panose="02020603050405020304" pitchFamily="18" charset="0"/>
              </a:rPr>
              <a:t>Students will:</a:t>
            </a:r>
            <a:br>
              <a:rPr lang="en-US" sz="2800" dirty="0"/>
            </a:br>
            <a:r>
              <a:rPr lang="en-US" sz="2800" dirty="0">
                <a:solidFill>
                  <a:srgbClr val="000000"/>
                </a:solidFill>
                <a:latin typeface="Times New Roman" panose="02020603050405020304" pitchFamily="18" charset="0"/>
              </a:rPr>
              <a:t>(1.) Discuss piecewise functions.</a:t>
            </a:r>
            <a:br>
              <a:rPr lang="en-US" sz="2800" dirty="0"/>
            </a:br>
            <a:r>
              <a:rPr lang="en-US" sz="2800" dirty="0">
                <a:solidFill>
                  <a:srgbClr val="000000"/>
                </a:solidFill>
                <a:latin typeface="Times New Roman" panose="02020603050405020304" pitchFamily="18" charset="0"/>
              </a:rPr>
              <a:t>(2.) Discuss real-world applications of piecewise-functions.</a:t>
            </a:r>
            <a:br>
              <a:rPr lang="en-US" sz="2800" dirty="0"/>
            </a:br>
            <a:r>
              <a:rPr lang="en-US" sz="2800" dirty="0">
                <a:solidFill>
                  <a:srgbClr val="000000"/>
                </a:solidFill>
                <a:latin typeface="Times New Roman" panose="02020603050405020304" pitchFamily="18" charset="0"/>
              </a:rPr>
              <a:t>(3.) Solve problems involving the application of piecewise functions.</a:t>
            </a:r>
            <a:br>
              <a:rPr lang="en-US" sz="2800" dirty="0"/>
            </a:br>
            <a:endParaRPr kumimoji="0" lang="en-US" sz="2500" b="0" i="1" u="none" strike="noStrike" kern="1200" cap="none" spc="-5"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 name="object 2">
            <a:extLst>
              <a:ext uri="{FF2B5EF4-FFF2-40B4-BE49-F238E27FC236}">
                <a16:creationId xmlns:a16="http://schemas.microsoft.com/office/drawing/2014/main" id="{EC268950-5696-4478-B858-3F7655EB39A6}"/>
              </a:ext>
            </a:extLst>
          </p:cNvPr>
          <p:cNvSpPr/>
          <p:nvPr/>
        </p:nvSpPr>
        <p:spPr>
          <a:xfrm>
            <a:off x="0" y="1798451"/>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object 2">
            <a:extLst>
              <a:ext uri="{FF2B5EF4-FFF2-40B4-BE49-F238E27FC236}">
                <a16:creationId xmlns:a16="http://schemas.microsoft.com/office/drawing/2014/main" id="{767E3030-310D-433F-8A6D-27214BB391B0}"/>
              </a:ext>
            </a:extLst>
          </p:cNvPr>
          <p:cNvSpPr/>
          <p:nvPr/>
        </p:nvSpPr>
        <p:spPr>
          <a:xfrm>
            <a:off x="0" y="3610234"/>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bject 2">
            <a:extLst>
              <a:ext uri="{FF2B5EF4-FFF2-40B4-BE49-F238E27FC236}">
                <a16:creationId xmlns:a16="http://schemas.microsoft.com/office/drawing/2014/main" id="{B9B6ADB4-52F3-4F93-8E21-AE6D0F01FBD2}"/>
              </a:ext>
            </a:extLst>
          </p:cNvPr>
          <p:cNvSpPr/>
          <p:nvPr/>
        </p:nvSpPr>
        <p:spPr>
          <a:xfrm>
            <a:off x="4867818" y="179845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bject 2">
            <a:extLst>
              <a:ext uri="{FF2B5EF4-FFF2-40B4-BE49-F238E27FC236}">
                <a16:creationId xmlns:a16="http://schemas.microsoft.com/office/drawing/2014/main" id="{4F83F7C3-4305-4C81-9342-724E001FC595}"/>
              </a:ext>
            </a:extLst>
          </p:cNvPr>
          <p:cNvSpPr/>
          <p:nvPr/>
        </p:nvSpPr>
        <p:spPr>
          <a:xfrm>
            <a:off x="4867818" y="362421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bject 4">
            <a:extLst>
              <a:ext uri="{FF2B5EF4-FFF2-40B4-BE49-F238E27FC236}">
                <a16:creationId xmlns:a16="http://schemas.microsoft.com/office/drawing/2014/main" id="{DCE6DF26-BA49-49B4-A1B3-1765992A8376}"/>
              </a:ext>
            </a:extLst>
          </p:cNvPr>
          <p:cNvSpPr txBox="1"/>
          <p:nvPr/>
        </p:nvSpPr>
        <p:spPr>
          <a:xfrm>
            <a:off x="775137" y="1929284"/>
            <a:ext cx="7413519"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lang="en-US" sz="3000" dirty="0" err="1">
                <a:solidFill>
                  <a:srgbClr val="FFFFFF"/>
                </a:solidFill>
                <a:latin typeface="Times New Roman" panose="02020603050405020304" pitchFamily="18" charset="0"/>
                <a:cs typeface="Times New Roman" panose="02020603050405020304" pitchFamily="18" charset="0"/>
                <a:hlinkClick r:id="rId3"/>
              </a:rPr>
              <a:t>PreCalculus</a:t>
            </a:r>
            <a:r>
              <a:rPr lang="en-US" sz="3000" dirty="0">
                <a:solidFill>
                  <a:srgbClr val="FFFFFF"/>
                </a:solidFill>
                <a:latin typeface="Times New Roman" panose="02020603050405020304" pitchFamily="18" charset="0"/>
                <a:cs typeface="Times New Roman" panose="02020603050405020304" pitchFamily="18" charset="0"/>
                <a:hlinkClick r:id="rId3"/>
              </a:rPr>
              <a:t>: Piecewise Function: Water Bill</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5" name="object 4">
            <a:extLst>
              <a:ext uri="{FF2B5EF4-FFF2-40B4-BE49-F238E27FC236}">
                <a16:creationId xmlns:a16="http://schemas.microsoft.com/office/drawing/2014/main" id="{0A40AAFF-EC8C-4969-A9F4-792C0E3072E8}"/>
              </a:ext>
            </a:extLst>
          </p:cNvPr>
          <p:cNvSpPr txBox="1"/>
          <p:nvPr/>
        </p:nvSpPr>
        <p:spPr>
          <a:xfrm>
            <a:off x="775137" y="3800966"/>
            <a:ext cx="7413519"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lang="en-US" sz="3000" dirty="0" err="1">
                <a:solidFill>
                  <a:srgbClr val="FFFFFF"/>
                </a:solidFill>
                <a:latin typeface="Times New Roman" panose="02020603050405020304" pitchFamily="18" charset="0"/>
                <a:cs typeface="Times New Roman" panose="02020603050405020304" pitchFamily="18" charset="0"/>
                <a:hlinkClick r:id="rId4"/>
              </a:rPr>
              <a:t>PreCalculus</a:t>
            </a:r>
            <a:r>
              <a:rPr lang="en-US" sz="3000" dirty="0">
                <a:solidFill>
                  <a:srgbClr val="FFFFFF"/>
                </a:solidFill>
                <a:latin typeface="Times New Roman" panose="02020603050405020304" pitchFamily="18" charset="0"/>
                <a:cs typeface="Times New Roman" panose="02020603050405020304" pitchFamily="18" charset="0"/>
                <a:hlinkClick r:id="rId4"/>
              </a:rPr>
              <a:t>: Piecewise Function: Federal Tax</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9908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 (Continued)</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17919508" cy="9023111"/>
          </a:xfrm>
          <a:prstGeom prst="rect">
            <a:avLst/>
          </a:prstGeom>
        </p:spPr>
        <p:txBody>
          <a:bodyPr vert="horz" wrap="square" lIns="0" tIns="5080" rIns="0" bIns="0" rtlCol="0">
            <a:spAutoFit/>
          </a:bodyPr>
          <a:lstStyle/>
          <a:p>
            <a:pPr marL="12700" marR="17780" lvl="0">
              <a:lnSpc>
                <a:spcPct val="150000"/>
              </a:lnSpc>
              <a:spcBef>
                <a:spcPts val="100"/>
              </a:spcBef>
            </a:pPr>
            <a:r>
              <a:rPr lang="en-US" sz="2400" dirty="0">
                <a:solidFill>
                  <a:srgbClr val="000000"/>
                </a:solidFill>
                <a:latin typeface="Times New Roman" panose="02020603050405020304" pitchFamily="18" charset="0"/>
              </a:rPr>
              <a:t>(4.) Meet one of the learning objectives of the VCCS (Virginia Community College System) standards for:</a:t>
            </a:r>
          </a:p>
          <a:p>
            <a:pPr marL="12700" marR="17780" lvl="0">
              <a:lnSpc>
                <a:spcPct val="150000"/>
              </a:lnSpc>
              <a:spcBef>
                <a:spcPts val="100"/>
              </a:spcBef>
            </a:pPr>
            <a:br>
              <a:rPr lang="en-US" sz="2400" dirty="0"/>
            </a:br>
            <a:r>
              <a:rPr lang="en-US" sz="2400" dirty="0">
                <a:solidFill>
                  <a:srgbClr val="00008B"/>
                </a:solidFill>
                <a:latin typeface="Times New Roman" panose="02020603050405020304" pitchFamily="18" charset="0"/>
                <a:hlinkClick r:id="rId2">
                  <a:extLst>
                    <a:ext uri="{A12FA001-AC4F-418D-AE19-62706E023703}">
                      <ahyp:hlinkClr xmlns:ahyp="http://schemas.microsoft.com/office/drawing/2018/hyperlinkcolor" val="tx"/>
                    </a:ext>
                  </a:extLst>
                </a:hlinkClick>
              </a:rPr>
              <a:t>MTH 161: </a:t>
            </a:r>
            <a:r>
              <a:rPr lang="en-US" sz="2400" dirty="0" err="1">
                <a:solidFill>
                  <a:srgbClr val="00008B"/>
                </a:solidFill>
                <a:latin typeface="Times New Roman" panose="02020603050405020304" pitchFamily="18" charset="0"/>
                <a:hlinkClick r:id="rId2">
                  <a:extLst>
                    <a:ext uri="{A12FA001-AC4F-418D-AE19-62706E023703}">
                      <ahyp:hlinkClr xmlns:ahyp="http://schemas.microsoft.com/office/drawing/2018/hyperlinkcolor" val="tx"/>
                    </a:ext>
                  </a:extLst>
                </a:hlinkClick>
              </a:rPr>
              <a:t>PreCalculus</a:t>
            </a:r>
            <a:r>
              <a:rPr lang="en-US" sz="2400" dirty="0">
                <a:solidFill>
                  <a:srgbClr val="00008B"/>
                </a:solidFill>
                <a:latin typeface="Times New Roman" panose="02020603050405020304" pitchFamily="18" charset="0"/>
                <a:hlinkClick r:id="rId2">
                  <a:extLst>
                    <a:ext uri="{A12FA001-AC4F-418D-AE19-62706E023703}">
                      <ahyp:hlinkClr xmlns:ahyp="http://schemas.microsoft.com/office/drawing/2018/hyperlinkcolor" val="tx"/>
                    </a:ext>
                  </a:extLst>
                </a:hlinkClick>
              </a:rPr>
              <a:t> I</a:t>
            </a:r>
            <a:br>
              <a:rPr lang="en-US" sz="2400" dirty="0"/>
            </a:br>
            <a:r>
              <a:rPr lang="en-US" sz="2400" i="1" dirty="0">
                <a:solidFill>
                  <a:srgbClr val="000000"/>
                </a:solidFill>
                <a:latin typeface="Times New Roman" panose="02020603050405020304" pitchFamily="18" charset="0"/>
              </a:rPr>
              <a:t>(Presents topics in power, polynomial, rational, exponential, and logarithmic functions, and systems of equations and inequalities.).</a:t>
            </a:r>
            <a:br>
              <a:rPr lang="en-US" sz="2400" dirty="0"/>
            </a:br>
            <a:br>
              <a:rPr lang="en-US" sz="2400" dirty="0"/>
            </a:br>
            <a:r>
              <a:rPr lang="en-US" sz="2400" dirty="0">
                <a:solidFill>
                  <a:srgbClr val="00008B"/>
                </a:solidFill>
                <a:latin typeface="Times New Roman" panose="02020603050405020304" pitchFamily="18" charset="0"/>
                <a:hlinkClick r:id="rId3">
                  <a:extLst>
                    <a:ext uri="{A12FA001-AC4F-418D-AE19-62706E023703}">
                      <ahyp:hlinkClr xmlns:ahyp="http://schemas.microsoft.com/office/drawing/2018/hyperlinkcolor" val="tx"/>
                    </a:ext>
                  </a:extLst>
                </a:hlinkClick>
              </a:rPr>
              <a:t>MTH 167: </a:t>
            </a:r>
            <a:r>
              <a:rPr lang="en-US" sz="2400" dirty="0" err="1">
                <a:solidFill>
                  <a:srgbClr val="00008B"/>
                </a:solidFill>
                <a:latin typeface="Times New Roman" panose="02020603050405020304" pitchFamily="18" charset="0"/>
                <a:hlinkClick r:id="rId3">
                  <a:extLst>
                    <a:ext uri="{A12FA001-AC4F-418D-AE19-62706E023703}">
                      <ahyp:hlinkClr xmlns:ahyp="http://schemas.microsoft.com/office/drawing/2018/hyperlinkcolor" val="tx"/>
                    </a:ext>
                  </a:extLst>
                </a:hlinkClick>
              </a:rPr>
              <a:t>PreCalculus</a:t>
            </a:r>
            <a:r>
              <a:rPr lang="en-US" sz="2400" dirty="0">
                <a:solidFill>
                  <a:srgbClr val="00008B"/>
                </a:solidFill>
                <a:latin typeface="Times New Roman" panose="02020603050405020304" pitchFamily="18" charset="0"/>
                <a:hlinkClick r:id="rId3">
                  <a:extLst>
                    <a:ext uri="{A12FA001-AC4F-418D-AE19-62706E023703}">
                      <ahyp:hlinkClr xmlns:ahyp="http://schemas.microsoft.com/office/drawing/2018/hyperlinkcolor" val="tx"/>
                    </a:ext>
                  </a:extLst>
                </a:hlinkClick>
              </a:rPr>
              <a:t> with Trigonometry</a:t>
            </a:r>
            <a:br>
              <a:rPr lang="en-US" sz="2400" dirty="0"/>
            </a:br>
            <a:r>
              <a:rPr lang="en-US" sz="2400" i="1" dirty="0">
                <a:solidFill>
                  <a:srgbClr val="000000"/>
                </a:solidFill>
                <a:latin typeface="Times New Roman" panose="02020603050405020304" pitchFamily="18" charset="0"/>
              </a:rPr>
              <a:t>(Presents topics in power, polynomial, rational, exponential, and logarithmic functions, systems of equations, trigonometry, and trigonometric applications, including Law of Sines and Cosines, and an introduction to conics.).</a:t>
            </a:r>
            <a:endParaRPr lang="en-US" sz="2400" i="1" spc="-5" dirty="0">
              <a:solidFill>
                <a:srgbClr val="000000"/>
              </a:solidFill>
              <a:latin typeface="Times New Roman" panose="02020603050405020304" pitchFamily="18" charset="0"/>
              <a:cs typeface="Times New Roman" panose="02020603050405020304" pitchFamily="18" charset="0"/>
            </a:endParaRPr>
          </a:p>
          <a:p>
            <a:pPr marL="12700" marR="17780" lvl="0" indent="0" algn="l" defTabSz="457200" rtl="0" eaLnBrk="1" fontAlgn="auto" latinLnBrk="0" hangingPunct="1">
              <a:lnSpc>
                <a:spcPct val="150000"/>
              </a:lnSpc>
              <a:spcBef>
                <a:spcPts val="100"/>
              </a:spcBef>
              <a:spcAft>
                <a:spcPts val="0"/>
              </a:spcAft>
              <a:buClrTx/>
              <a:buSzTx/>
              <a:buFontTx/>
              <a:buNone/>
              <a:tabLst/>
              <a:defRPr/>
            </a:pP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lang="en-US" sz="2500" dirty="0">
                <a:solidFill>
                  <a:srgbClr val="000000"/>
                </a:solidFill>
                <a:latin typeface="Times New Roman" panose="02020603050405020304" pitchFamily="18" charset="0"/>
                <a:cs typeface="Times New Roman" panose="02020603050405020304" pitchFamily="18" charset="0"/>
              </a:rPr>
              <a:t>5</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Meet the QM (Quality Matters) and USDOE (United States Department of Education) requirements for distance education as regards the provision of RSI (Regular and Substantive Interaction).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Federal Register: Distance Education and Innovation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St. John's University: New Federal Requirements for Distance Education: Regular and Substantive Interaction (RSI)</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Content Interaction: Very high</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Student Interaction: Flexible</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Faculty Interaction: </a:t>
            </a:r>
            <a:r>
              <a:rPr lang="en-US" sz="2500" dirty="0">
                <a:solidFill>
                  <a:srgbClr val="000000"/>
                </a:solidFill>
                <a:latin typeface="Times New Roman" panose="02020603050405020304" pitchFamily="18" charset="0"/>
                <a:cs typeface="Times New Roman" panose="02020603050405020304" pitchFamily="18" charset="0"/>
              </a:rPr>
              <a:t>High</a:t>
            </a: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36174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Example: Alabama Power</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object 13"/>
              <p:cNvSpPr txBox="1"/>
              <p:nvPr/>
            </p:nvSpPr>
            <p:spPr>
              <a:xfrm>
                <a:off x="286604" y="1020144"/>
                <a:ext cx="8911987" cy="7147213"/>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latin typeface="Times New Roman" panose="02020603050405020304" pitchFamily="18" charset="0"/>
                    <a:cs typeface="Times New Roman" panose="02020603050405020304" pitchFamily="18" charset="0"/>
                  </a:rPr>
                  <a:t>Develop a piecewise function for the Billing Months: June – September.</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lvl="0" defTabSz="914400">
                  <a:lnSpc>
                    <a:spcPct val="200000"/>
                  </a:lnSpc>
                  <a:spcBef>
                    <a:spcPts val="1000"/>
                  </a:spcBef>
                </a:pPr>
                <a:r>
                  <a:rPr lang="en-US" sz="2500" dirty="0">
                    <a:solidFill>
                      <a:prstClr val="black"/>
                    </a:solidFill>
                    <a:latin typeface="Times New Roman" panose="02020603050405020304" pitchFamily="18" charset="0"/>
                    <a:cs typeface="Times New Roman" panose="02020603050405020304" pitchFamily="18" charset="0"/>
                  </a:rPr>
                  <a:t>Define variables: Let:</a:t>
                </a:r>
              </a:p>
              <a:p>
                <a:pPr lvl="0" defTabSz="914400">
                  <a:lnSpc>
                    <a:spcPct val="200000"/>
                  </a:lnSpc>
                  <a:spcBef>
                    <a:spcPts val="1000"/>
                  </a:spcBef>
                </a:pPr>
                <a:r>
                  <a:rPr lang="en-US" sz="2500" dirty="0">
                    <a:solidFill>
                      <a:prstClr val="black"/>
                    </a:solidFill>
                    <a:cs typeface="Times New Roman" panose="02020603050405020304" pitchFamily="18" charset="0"/>
                  </a:rPr>
                  <a:t> </a:t>
                </a:r>
                <a14:m>
                  <m:oMath xmlns:m="http://schemas.openxmlformats.org/officeDocument/2006/math">
                    <m:r>
                      <a:rPr lang="en-US" sz="2500" i="1">
                        <a:solidFill>
                          <a:prstClr val="black"/>
                        </a:solidFill>
                        <a:latin typeface="Cambria Math" panose="02040503050406030204" pitchFamily="18" charset="0"/>
                        <a:cs typeface="Times New Roman" panose="02020603050405020304" pitchFamily="18" charset="0"/>
                      </a:rPr>
                      <m:t>𝑝</m:t>
                    </m:r>
                    <m:r>
                      <a:rPr lang="en-US" sz="2500" i="1">
                        <a:solidFill>
                          <a:prstClr val="black"/>
                        </a:solidFill>
                        <a:latin typeface="Cambria Math" panose="02040503050406030204" pitchFamily="18" charset="0"/>
                        <a:cs typeface="Times New Roman" panose="02020603050405020304" pitchFamily="18" charset="0"/>
                      </a:rPr>
                      <m:t>=</m:t>
                    </m:r>
                  </m:oMath>
                </a14:m>
                <a:r>
                  <a:rPr lang="en-US" sz="2500" dirty="0">
                    <a:solidFill>
                      <a:prstClr val="black"/>
                    </a:solidFill>
                    <a:latin typeface="Times New Roman" panose="02020603050405020304" pitchFamily="18" charset="0"/>
                    <a:cs typeface="Times New Roman" panose="02020603050405020304" pitchFamily="18" charset="0"/>
                  </a:rPr>
                  <a:t> power consumption per </a:t>
                </a:r>
                <a:r>
                  <a:rPr lang="en-US" sz="2500" dirty="0" err="1">
                    <a:solidFill>
                      <a:prstClr val="black"/>
                    </a:solidFill>
                    <a:latin typeface="Times New Roman" panose="02020603050405020304" pitchFamily="18" charset="0"/>
                    <a:cs typeface="Times New Roman" panose="02020603050405020304" pitchFamily="18" charset="0"/>
                  </a:rPr>
                  <a:t>KWh</a:t>
                </a:r>
                <a:r>
                  <a:rPr lang="en-US" sz="2500" dirty="0">
                    <a:solidFill>
                      <a:prstClr val="black"/>
                    </a:solidFill>
                    <a:latin typeface="Times New Roman" panose="02020603050405020304" pitchFamily="18" charset="0"/>
                    <a:cs typeface="Times New Roman" panose="02020603050405020304" pitchFamily="18" charset="0"/>
                  </a:rPr>
                  <a:t> (</a:t>
                </a:r>
                <a:r>
                  <a:rPr lang="en-US" sz="2500" dirty="0" err="1">
                    <a:solidFill>
                      <a:prstClr val="black"/>
                    </a:solidFill>
                    <a:latin typeface="Times New Roman" panose="02020603050405020304" pitchFamily="18" charset="0"/>
                    <a:cs typeface="Times New Roman" panose="02020603050405020304" pitchFamily="18" charset="0"/>
                  </a:rPr>
                  <a:t>KiloWatt</a:t>
                </a:r>
                <a:r>
                  <a:rPr lang="en-US" sz="2500" dirty="0">
                    <a:solidFill>
                      <a:prstClr val="black"/>
                    </a:solidFill>
                    <a:latin typeface="Times New Roman" panose="02020603050405020304" pitchFamily="18" charset="0"/>
                    <a:cs typeface="Times New Roman" panose="02020603050405020304" pitchFamily="18" charset="0"/>
                  </a:rPr>
                  <a:t> hour)</a:t>
                </a:r>
              </a:p>
              <a:p>
                <a:pPr lvl="0" defTabSz="914400">
                  <a:lnSpc>
                    <a:spcPct val="200000"/>
                  </a:lnSpc>
                  <a:spcBef>
                    <a:spcPts val="1000"/>
                  </a:spcBef>
                </a:pPr>
                <a:r>
                  <a:rPr lang="en-US" sz="2500" dirty="0">
                    <a:solidFill>
                      <a:prstClr val="black"/>
                    </a:solidFill>
                    <a:cs typeface="Times New Roman" panose="02020603050405020304" pitchFamily="18" charset="0"/>
                  </a:rPr>
                  <a:t> </a:t>
                </a:r>
                <a14:m>
                  <m:oMath xmlns:m="http://schemas.openxmlformats.org/officeDocument/2006/math">
                    <m:r>
                      <a:rPr lang="en-US" sz="2500" i="1">
                        <a:solidFill>
                          <a:prstClr val="black"/>
                        </a:solidFill>
                        <a:latin typeface="Cambria Math" panose="02040503050406030204" pitchFamily="18" charset="0"/>
                        <a:cs typeface="Times New Roman" panose="02020603050405020304" pitchFamily="18" charset="0"/>
                      </a:rPr>
                      <m:t>𝑐</m:t>
                    </m:r>
                    <m:r>
                      <a:rPr lang="en-US" sz="2500" i="1">
                        <a:solidFill>
                          <a:prstClr val="black"/>
                        </a:solidFill>
                        <a:latin typeface="Cambria Math" panose="02040503050406030204" pitchFamily="18" charset="0"/>
                        <a:cs typeface="Times New Roman" panose="02020603050405020304" pitchFamily="18" charset="0"/>
                      </a:rPr>
                      <m:t>=</m:t>
                    </m:r>
                  </m:oMath>
                </a14:m>
                <a:r>
                  <a:rPr lang="en-US" sz="2500" dirty="0">
                    <a:solidFill>
                      <a:prstClr val="black"/>
                    </a:solidFill>
                    <a:latin typeface="Times New Roman" panose="02020603050405020304" pitchFamily="18" charset="0"/>
                    <a:cs typeface="Times New Roman" panose="02020603050405020304" pitchFamily="18" charset="0"/>
                  </a:rPr>
                  <a:t> cost of power consumption per </a:t>
                </a:r>
                <a:r>
                  <a:rPr lang="en-US" sz="2500" dirty="0" err="1">
                    <a:solidFill>
                      <a:prstClr val="black"/>
                    </a:solidFill>
                    <a:latin typeface="Times New Roman" panose="02020603050405020304" pitchFamily="18" charset="0"/>
                    <a:cs typeface="Times New Roman" panose="02020603050405020304" pitchFamily="18" charset="0"/>
                  </a:rPr>
                  <a:t>KWh</a:t>
                </a:r>
                <a:endParaRPr lang="en-US" sz="2500" dirty="0">
                  <a:solidFill>
                    <a:prstClr val="black"/>
                  </a:solidFill>
                  <a:latin typeface="Times New Roman" panose="02020603050405020304" pitchFamily="18" charset="0"/>
                  <a:cs typeface="Times New Roman" panose="02020603050405020304" pitchFamily="18" charset="0"/>
                </a:endParaRPr>
              </a:p>
              <a:p>
                <a:pPr lvl="0" defTabSz="914400">
                  <a:lnSpc>
                    <a:spcPct val="200000"/>
                  </a:lnSpc>
                  <a:spcBef>
                    <a:spcPts val="1000"/>
                  </a:spcBef>
                </a:pPr>
                <a14:m>
                  <m:oMathPara xmlns:m="http://schemas.openxmlformats.org/officeDocument/2006/math">
                    <m:oMathParaPr>
                      <m:jc m:val="center"/>
                    </m:oMathParaPr>
                    <m:oMath xmlns:m="http://schemas.openxmlformats.org/officeDocument/2006/math">
                      <m:r>
                        <a:rPr lang="en-US" sz="3200" i="1">
                          <a:solidFill>
                            <a:prstClr val="black"/>
                          </a:solidFill>
                          <a:latin typeface="Cambria Math" panose="02040503050406030204" pitchFamily="18" charset="0"/>
                          <a:cs typeface="Times New Roman" panose="02020603050405020304" pitchFamily="18" charset="0"/>
                        </a:rPr>
                        <m:t>𝑐</m:t>
                      </m:r>
                      <m:d>
                        <m:dPr>
                          <m:ctrlPr>
                            <a:rPr lang="en-US" sz="3200" i="1">
                              <a:solidFill>
                                <a:prstClr val="black"/>
                              </a:solidFill>
                              <a:latin typeface="Cambria Math" panose="02040503050406030204" pitchFamily="18" charset="0"/>
                              <a:cs typeface="Times New Roman" panose="02020603050405020304" pitchFamily="18" charset="0"/>
                            </a:rPr>
                          </m:ctrlPr>
                        </m:dPr>
                        <m:e>
                          <m:r>
                            <a:rPr lang="en-US" sz="3200" i="1">
                              <a:solidFill>
                                <a:prstClr val="black"/>
                              </a:solidFill>
                              <a:latin typeface="Cambria Math" panose="02040503050406030204" pitchFamily="18" charset="0"/>
                              <a:cs typeface="Times New Roman" panose="02020603050405020304" pitchFamily="18" charset="0"/>
                            </a:rPr>
                            <m:t>𝑝</m:t>
                          </m:r>
                        </m:e>
                      </m:d>
                      <m:r>
                        <a:rPr lang="en-US" sz="3200" i="1">
                          <a:solidFill>
                            <a:prstClr val="black"/>
                          </a:solidFill>
                          <a:latin typeface="Cambria Math" panose="02040503050406030204" pitchFamily="18" charset="0"/>
                          <a:cs typeface="Times New Roman" panose="02020603050405020304" pitchFamily="18" charset="0"/>
                        </a:rPr>
                        <m:t>=</m:t>
                      </m:r>
                      <m:d>
                        <m:dPr>
                          <m:begChr m:val="{"/>
                          <m:endChr m:val=""/>
                          <m:ctrlPr>
                            <a:rPr lang="en-US" sz="3200" i="1">
                              <a:solidFill>
                                <a:prstClr val="black"/>
                              </a:solidFill>
                              <a:latin typeface="Cambria Math" panose="02040503050406030204" pitchFamily="18" charset="0"/>
                              <a:cs typeface="Times New Roman" panose="02020603050405020304" pitchFamily="18" charset="0"/>
                            </a:rPr>
                          </m:ctrlPr>
                        </m:dPr>
                        <m:e>
                          <m:eqArr>
                            <m:eqArrPr>
                              <m:ctrlPr>
                                <a:rPr lang="en-US" sz="3200" i="1">
                                  <a:solidFill>
                                    <a:prstClr val="black"/>
                                  </a:solidFill>
                                  <a:latin typeface="Cambria Math" panose="02040503050406030204" pitchFamily="18" charset="0"/>
                                  <a:cs typeface="Times New Roman" panose="02020603050405020304" pitchFamily="18" charset="0"/>
                                </a:rPr>
                              </m:ctrlPr>
                            </m:eqArrPr>
                            <m:e>
                              <m:r>
                                <a:rPr lang="en-US" sz="3200" i="1">
                                  <a:solidFill>
                                    <a:prstClr val="black"/>
                                  </a:solidFill>
                                  <a:latin typeface="Cambria Math" panose="02040503050406030204" pitchFamily="18" charset="0"/>
                                  <a:cs typeface="Times New Roman" panose="02020603050405020304" pitchFamily="18" charset="0"/>
                                </a:rPr>
                                <m:t>0.12233</m:t>
                              </m:r>
                              <m:r>
                                <a:rPr lang="en-US" sz="3200" i="1">
                                  <a:solidFill>
                                    <a:prstClr val="black"/>
                                  </a:solidFill>
                                  <a:latin typeface="Cambria Math" panose="02040503050406030204" pitchFamily="18" charset="0"/>
                                  <a:cs typeface="Times New Roman" panose="02020603050405020304" pitchFamily="18" charset="0"/>
                                </a:rPr>
                                <m:t>𝑝</m:t>
                              </m:r>
                              <m:r>
                                <a:rPr lang="en-US" sz="3200" i="1">
                                  <a:solidFill>
                                    <a:prstClr val="black"/>
                                  </a:solidFill>
                                  <a:latin typeface="Cambria Math" panose="02040503050406030204" pitchFamily="18" charset="0"/>
                                  <a:cs typeface="Times New Roman" panose="02020603050405020304" pitchFamily="18" charset="0"/>
                                </a:rPr>
                                <m:t>+14.5;                  0 ≤</m:t>
                              </m:r>
                              <m:r>
                                <a:rPr lang="en-US" sz="32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𝑝</m:t>
                              </m:r>
                              <m:r>
                                <a:rPr lang="en-US" sz="32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≤1000</m:t>
                              </m:r>
                            </m:e>
                            <m:e>
                              <m:r>
                                <a:rPr lang="en-US" sz="3200" i="1">
                                  <a:solidFill>
                                    <a:prstClr val="black"/>
                                  </a:solidFill>
                                  <a:latin typeface="Cambria Math" panose="02040503050406030204" pitchFamily="18" charset="0"/>
                                  <a:cs typeface="Times New Roman" panose="02020603050405020304" pitchFamily="18" charset="0"/>
                                </a:rPr>
                                <m:t>0.124859</m:t>
                              </m:r>
                              <m:r>
                                <a:rPr lang="en-US" sz="3200" i="1">
                                  <a:solidFill>
                                    <a:prstClr val="black"/>
                                  </a:solidFill>
                                  <a:latin typeface="Cambria Math" panose="02040503050406030204" pitchFamily="18" charset="0"/>
                                  <a:cs typeface="Times New Roman" panose="02020603050405020304" pitchFamily="18" charset="0"/>
                                </a:rPr>
                                <m:t>𝑝</m:t>
                              </m:r>
                              <m:r>
                                <a:rPr lang="en-US" sz="3200" i="1">
                                  <a:solidFill>
                                    <a:prstClr val="black"/>
                                  </a:solidFill>
                                  <a:latin typeface="Cambria Math" panose="02040503050406030204" pitchFamily="18" charset="0"/>
                                  <a:cs typeface="Times New Roman" panose="02020603050405020304" pitchFamily="18" charset="0"/>
                                </a:rPr>
                                <m:t>+11.971;                    </m:t>
                              </m:r>
                              <m:r>
                                <a:rPr lang="en-US" sz="3200" i="1">
                                  <a:solidFill>
                                    <a:prstClr val="black"/>
                                  </a:solidFill>
                                  <a:latin typeface="Cambria Math" panose="02040503050406030204" pitchFamily="18" charset="0"/>
                                  <a:cs typeface="Times New Roman" panose="02020603050405020304" pitchFamily="18" charset="0"/>
                                </a:rPr>
                                <m:t>𝑝</m:t>
                              </m:r>
                              <m:r>
                                <a:rPr lang="en-US" sz="32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&gt;1000</m:t>
                              </m:r>
                            </m:e>
                          </m:eqArr>
                        </m:e>
                      </m:d>
                    </m:oMath>
                  </m:oMathPara>
                </a14:m>
                <a:endParaRPr lang="en-US" sz="2500" dirty="0">
                  <a:solidFill>
                    <a:prstClr val="black"/>
                  </a:solidFill>
                  <a:latin typeface="Times New Roman" panose="02020603050405020304" pitchFamily="18" charset="0"/>
                  <a:cs typeface="Times New Roman" panose="02020603050405020304" pitchFamily="18" charset="0"/>
                </a:endParaRPr>
              </a:p>
              <a:p>
                <a:pPr marL="12700" marR="17780" lvl="0">
                  <a:lnSpc>
                    <a:spcPct val="150000"/>
                  </a:lnSpc>
                  <a:spcBef>
                    <a:spcPts val="100"/>
                  </a:spcBef>
                </a:pP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13" name="object 13"/>
              <p:cNvSpPr txBox="1">
                <a:spLocks noRot="1" noChangeAspect="1" noMove="1" noResize="1" noEditPoints="1" noAdjustHandles="1" noChangeArrowheads="1" noChangeShapeType="1" noTextEdit="1"/>
              </p:cNvSpPr>
              <p:nvPr/>
            </p:nvSpPr>
            <p:spPr>
              <a:xfrm>
                <a:off x="286604" y="1020144"/>
                <a:ext cx="8911987" cy="7147213"/>
              </a:xfrm>
              <a:prstGeom prst="rect">
                <a:avLst/>
              </a:prstGeom>
              <a:blipFill>
                <a:blip r:embed="rId2"/>
                <a:stretch>
                  <a:fillRect l="-212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E78C22EA-3337-4E8C-8986-58D69092F468}"/>
              </a:ext>
            </a:extLst>
          </p:cNvPr>
          <p:cNvPicPr>
            <a:picLocks noChangeAspect="1"/>
          </p:cNvPicPr>
          <p:nvPr/>
        </p:nvPicPr>
        <p:blipFill>
          <a:blip r:embed="rId3"/>
          <a:stretch>
            <a:fillRect/>
          </a:stretch>
        </p:blipFill>
        <p:spPr>
          <a:xfrm>
            <a:off x="9959151" y="3170638"/>
            <a:ext cx="8813702" cy="5823830"/>
          </a:xfrm>
          <a:prstGeom prst="rect">
            <a:avLst/>
          </a:prstGeom>
        </p:spPr>
      </p:pic>
      <p:sp>
        <p:nvSpPr>
          <p:cNvPr id="10" name="object 13">
            <a:extLst>
              <a:ext uri="{FF2B5EF4-FFF2-40B4-BE49-F238E27FC236}">
                <a16:creationId xmlns:a16="http://schemas.microsoft.com/office/drawing/2014/main" id="{DF13D9C0-30FF-4F77-B5ED-80E925594928}"/>
              </a:ext>
            </a:extLst>
          </p:cNvPr>
          <p:cNvSpPr txBox="1"/>
          <p:nvPr/>
        </p:nvSpPr>
        <p:spPr>
          <a:xfrm>
            <a:off x="9910009" y="218276"/>
            <a:ext cx="8911987" cy="2244332"/>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latin typeface="Times New Roman" panose="02020603050405020304" pitchFamily="18" charset="0"/>
                <a:cs typeface="Times New Roman" panose="02020603050405020304" pitchFamily="18" charset="0"/>
              </a:rPr>
              <a:t>Screenshot of Family Dwelling: Residential Service rates of Alabama Power.</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Source: </a:t>
            </a:r>
            <a:r>
              <a:rPr lang="en-US" sz="2500" dirty="0">
                <a:solidFill>
                  <a:prstClr val="black"/>
                </a:solidFill>
                <a:latin typeface="Times New Roman" panose="02020603050405020304" pitchFamily="18" charset="0"/>
                <a:cs typeface="Times New Roman" panose="02020603050405020304" pitchFamily="18" charset="0"/>
                <a:hlinkClick r:id="rId4"/>
              </a:rPr>
              <a:t>https://www.alabamapower.com/content/dam/alabama-power/pdfs-docs/Rates/FD.pdf</a:t>
            </a:r>
            <a:r>
              <a:rPr lang="en-US" sz="2500" dirty="0">
                <a:solidFill>
                  <a:prstClr val="black"/>
                </a:solidFill>
                <a:latin typeface="Times New Roman" panose="02020603050405020304" pitchFamily="18" charset="0"/>
                <a:cs typeface="Times New Roman" panose="02020603050405020304" pitchFamily="18" charset="0"/>
              </a:rPr>
              <a:t> </a:t>
            </a: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 name="object 7">
            <a:extLst>
              <a:ext uri="{FF2B5EF4-FFF2-40B4-BE49-F238E27FC236}">
                <a16:creationId xmlns:a16="http://schemas.microsoft.com/office/drawing/2014/main" id="{427B856C-B38F-47CB-8E5C-D091936B66D3}"/>
              </a:ext>
            </a:extLst>
          </p:cNvPr>
          <p:cNvSpPr/>
          <p:nvPr/>
        </p:nvSpPr>
        <p:spPr>
          <a:xfrm>
            <a:off x="-1" y="884525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endParaRPr dirty="0"/>
          </a:p>
        </p:txBody>
      </p:sp>
      <p:sp>
        <p:nvSpPr>
          <p:cNvPr id="12" name="object 9">
            <a:extLst>
              <a:ext uri="{FF2B5EF4-FFF2-40B4-BE49-F238E27FC236}">
                <a16:creationId xmlns:a16="http://schemas.microsoft.com/office/drawing/2014/main" id="{0E96F5FD-D13C-453A-8CFD-A8F73FC43609}"/>
              </a:ext>
            </a:extLst>
          </p:cNvPr>
          <p:cNvSpPr txBox="1"/>
          <p:nvPr/>
        </p:nvSpPr>
        <p:spPr>
          <a:xfrm>
            <a:off x="109183" y="9037400"/>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latin typeface="Times New Roman" panose="02020603050405020304" pitchFamily="18" charset="0"/>
                <a:cs typeface="Times New Roman" panose="02020603050405020304" pitchFamily="18" charset="0"/>
                <a:hlinkClick r:id="rId5"/>
              </a:rPr>
              <a:t>Students Projects</a:t>
            </a:r>
            <a:endParaRPr lang="cs-CZ"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735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Calhoun County Water Authority</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8911987" cy="5219506"/>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latin typeface="Times New Roman" panose="02020603050405020304" pitchFamily="18" charset="0"/>
                <a:cs typeface="Times New Roman" panose="02020603050405020304" pitchFamily="18" charset="0"/>
              </a:rPr>
              <a:t>As of the 7</a:t>
            </a:r>
            <a:r>
              <a:rPr lang="en-US" sz="2500" baseline="30000" dirty="0">
                <a:latin typeface="Times New Roman" panose="02020603050405020304" pitchFamily="18" charset="0"/>
                <a:cs typeface="Times New Roman" panose="02020603050405020304" pitchFamily="18" charset="0"/>
              </a:rPr>
              <a:t>th</a:t>
            </a:r>
            <a:r>
              <a:rPr lang="en-US" sz="2500" dirty="0">
                <a:latin typeface="Times New Roman" panose="02020603050405020304" pitchFamily="18" charset="0"/>
                <a:cs typeface="Times New Roman" panose="02020603050405020304" pitchFamily="18" charset="0"/>
              </a:rPr>
              <a:t> day of July, 2018; the residential water rates of Calhoun County Water Authority residents is:</a:t>
            </a:r>
          </a:p>
          <a:p>
            <a:pPr marL="12700" marR="17780" lvl="0">
              <a:lnSpc>
                <a:spcPct val="150000"/>
              </a:lnSpc>
              <a:spcBef>
                <a:spcPts val="100"/>
              </a:spcBef>
            </a:pPr>
            <a: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First 3,000 Gallons:			$17.35 Minimum Per Month</a:t>
            </a:r>
          </a:p>
          <a:p>
            <a:pPr marL="12700" marR="17780" lvl="0">
              <a:lnSpc>
                <a:spcPct val="150000"/>
              </a:lnSpc>
              <a:spcBef>
                <a:spcPts val="100"/>
              </a:spcBef>
            </a:pPr>
            <a:r>
              <a:rPr lang="en-US" sz="2500" dirty="0">
                <a:solidFill>
                  <a:prstClr val="black"/>
                </a:solidFill>
                <a:latin typeface="Times New Roman" panose="02020603050405020304" pitchFamily="18" charset="0"/>
                <a:cs typeface="Times New Roman" panose="02020603050405020304" pitchFamily="18" charset="0"/>
              </a:rPr>
              <a:t>Next 2,000 Gallons:			$5.24 per 1,000 Gallons</a:t>
            </a:r>
          </a:p>
          <a:p>
            <a:pPr marL="12700" marR="17780" lvl="0">
              <a:lnSpc>
                <a:spcPct val="150000"/>
              </a:lnSpc>
              <a:spcBef>
                <a:spcPts val="100"/>
              </a:spcBef>
            </a:pPr>
            <a: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Next 5,000 Gallons:			$3.96 per 1,000 Gallons</a:t>
            </a:r>
          </a:p>
          <a:p>
            <a:pPr marL="12700" marR="17780" lvl="0">
              <a:lnSpc>
                <a:spcPct val="150000"/>
              </a:lnSpc>
              <a:spcBef>
                <a:spcPts val="100"/>
              </a:spcBef>
            </a:pPr>
            <a:r>
              <a:rPr lang="en-US" sz="2500" dirty="0">
                <a:solidFill>
                  <a:prstClr val="black"/>
                </a:solidFill>
                <a:latin typeface="Times New Roman" panose="02020603050405020304" pitchFamily="18" charset="0"/>
                <a:cs typeface="Times New Roman" panose="02020603050405020304" pitchFamily="18" charset="0"/>
              </a:rPr>
              <a:t>All over 10,000 Gallons:		$3.10 per 1,000 Gallons</a:t>
            </a: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17780" lvl="0">
              <a:lnSpc>
                <a:spcPct val="150000"/>
              </a:lnSpc>
              <a:spcBef>
                <a:spcPts val="100"/>
              </a:spcBef>
            </a:pP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17780" lvl="0">
              <a:lnSpc>
                <a:spcPct val="150000"/>
              </a:lnSpc>
              <a:spcBef>
                <a:spcPts val="100"/>
              </a:spcBef>
            </a:pPr>
            <a:r>
              <a:rPr lang="en-US" sz="2500" dirty="0">
                <a:latin typeface="Times New Roman" panose="02020603050405020304" pitchFamily="18" charset="0"/>
                <a:cs typeface="Times New Roman" panose="02020603050405020304" pitchFamily="18" charset="0"/>
              </a:rPr>
              <a:t>Develop a piecewise function for the residential water rates.</a:t>
            </a:r>
            <a:endParaRPr lang="en-US" sz="2500" dirty="0">
              <a:solidFill>
                <a:prstClr val="black"/>
              </a:solidFill>
              <a:latin typeface="Times New Roman" panose="02020603050405020304" pitchFamily="18" charset="0"/>
              <a:cs typeface="Times New Roman" panose="02020603050405020304" pitchFamily="18" charset="0"/>
            </a:endParaRPr>
          </a:p>
          <a:p>
            <a:pPr marL="12700" marR="17780" lvl="0">
              <a:lnSpc>
                <a:spcPct val="150000"/>
              </a:lnSpc>
              <a:spcBef>
                <a:spcPts val="100"/>
              </a:spcBef>
            </a:pP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object 13">
                <a:extLst>
                  <a:ext uri="{FF2B5EF4-FFF2-40B4-BE49-F238E27FC236}">
                    <a16:creationId xmlns:a16="http://schemas.microsoft.com/office/drawing/2014/main" id="{DF13D9C0-30FF-4F77-B5ED-80E925594928}"/>
                  </a:ext>
                </a:extLst>
              </p:cNvPr>
              <p:cNvSpPr txBox="1"/>
              <p:nvPr/>
            </p:nvSpPr>
            <p:spPr>
              <a:xfrm>
                <a:off x="9910009" y="218276"/>
                <a:ext cx="8911987" cy="7009483"/>
              </a:xfrm>
              <a:prstGeom prst="rect">
                <a:avLst/>
              </a:prstGeom>
            </p:spPr>
            <p:txBody>
              <a:bodyPr vert="horz" wrap="square" lIns="0" tIns="5080" rIns="0" bIns="0" rtlCol="0">
                <a:spAutoFit/>
              </a:bodyPr>
              <a:lstStyle/>
              <a:p>
                <a:pPr lvl="0" defTabSz="914400">
                  <a:lnSpc>
                    <a:spcPct val="200000"/>
                  </a:lnSpc>
                  <a:spcBef>
                    <a:spcPts val="1000"/>
                  </a:spcBef>
                </a:pPr>
                <a:r>
                  <a:rPr lang="en-US" sz="2500" dirty="0">
                    <a:solidFill>
                      <a:prstClr val="black"/>
                    </a:solidFill>
                    <a:latin typeface="Times New Roman" panose="02020603050405020304" pitchFamily="18" charset="0"/>
                    <a:cs typeface="Times New Roman" panose="02020603050405020304" pitchFamily="18" charset="0"/>
                  </a:rPr>
                  <a:t>Define variables: Let:</a:t>
                </a:r>
              </a:p>
              <a:p>
                <a:pPr lvl="0" defTabSz="914400">
                  <a:lnSpc>
                    <a:spcPct val="200000"/>
                  </a:lnSpc>
                  <a:spcBef>
                    <a:spcPts val="1000"/>
                  </a:spcBef>
                </a:pPr>
                <a:r>
                  <a:rPr lang="en-US" sz="2500" dirty="0">
                    <a:solidFill>
                      <a:prstClr val="black"/>
                    </a:solidFill>
                    <a:cs typeface="Times New Roman" panose="02020603050405020304" pitchFamily="18" charset="0"/>
                  </a:rPr>
                  <a:t> </a:t>
                </a:r>
                <a14:m>
                  <m:oMath xmlns:m="http://schemas.openxmlformats.org/officeDocument/2006/math">
                    <m:r>
                      <a:rPr lang="en-US" sz="2500" b="0" i="1" smtClean="0">
                        <a:solidFill>
                          <a:prstClr val="black"/>
                        </a:solidFill>
                        <a:latin typeface="Cambria Math" panose="02040503050406030204" pitchFamily="18" charset="0"/>
                        <a:cs typeface="Times New Roman" panose="02020603050405020304" pitchFamily="18" charset="0"/>
                      </a:rPr>
                      <m:t>𝑔</m:t>
                    </m:r>
                    <m:r>
                      <a:rPr lang="en-US" sz="2500" i="1">
                        <a:solidFill>
                          <a:prstClr val="black"/>
                        </a:solidFill>
                        <a:latin typeface="Cambria Math" panose="02040503050406030204" pitchFamily="18" charset="0"/>
                        <a:cs typeface="Times New Roman" panose="02020603050405020304" pitchFamily="18" charset="0"/>
                      </a:rPr>
                      <m:t>=</m:t>
                    </m:r>
                  </m:oMath>
                </a14:m>
                <a:r>
                  <a:rPr lang="en-US" sz="2500" dirty="0">
                    <a:solidFill>
                      <a:prstClr val="black"/>
                    </a:solidFill>
                    <a:latin typeface="Times New Roman" panose="02020603050405020304" pitchFamily="18" charset="0"/>
                    <a:cs typeface="Times New Roman" panose="02020603050405020304" pitchFamily="18" charset="0"/>
                  </a:rPr>
                  <a:t> gallons of water (in gallons)</a:t>
                </a:r>
              </a:p>
              <a:p>
                <a:pPr lvl="0" defTabSz="914400">
                  <a:lnSpc>
                    <a:spcPct val="200000"/>
                  </a:lnSpc>
                  <a:spcBef>
                    <a:spcPts val="1000"/>
                  </a:spcBef>
                </a:pPr>
                <a:r>
                  <a:rPr lang="en-US" sz="2500" dirty="0">
                    <a:solidFill>
                      <a:prstClr val="black"/>
                    </a:solidFill>
                    <a:cs typeface="Times New Roman" panose="02020603050405020304" pitchFamily="18" charset="0"/>
                  </a:rPr>
                  <a:t> </a:t>
                </a:r>
                <a14:m>
                  <m:oMath xmlns:m="http://schemas.openxmlformats.org/officeDocument/2006/math">
                    <m:r>
                      <a:rPr lang="en-US" sz="2500" b="0" i="1" smtClean="0">
                        <a:solidFill>
                          <a:prstClr val="black"/>
                        </a:solidFill>
                        <a:latin typeface="Cambria Math" panose="02040503050406030204" pitchFamily="18" charset="0"/>
                        <a:cs typeface="Times New Roman" panose="02020603050405020304" pitchFamily="18" charset="0"/>
                      </a:rPr>
                      <m:t>𝑟</m:t>
                    </m:r>
                    <m:r>
                      <a:rPr lang="en-US" sz="2500" i="1">
                        <a:solidFill>
                          <a:prstClr val="black"/>
                        </a:solidFill>
                        <a:latin typeface="Cambria Math" panose="02040503050406030204" pitchFamily="18" charset="0"/>
                        <a:cs typeface="Times New Roman" panose="02020603050405020304" pitchFamily="18" charset="0"/>
                      </a:rPr>
                      <m:t>=</m:t>
                    </m:r>
                  </m:oMath>
                </a14:m>
                <a:r>
                  <a:rPr lang="en-US" sz="2500" dirty="0">
                    <a:solidFill>
                      <a:prstClr val="black"/>
                    </a:solidFill>
                    <a:latin typeface="Times New Roman" panose="02020603050405020304" pitchFamily="18" charset="0"/>
                    <a:cs typeface="Times New Roman" panose="02020603050405020304" pitchFamily="18" charset="0"/>
                  </a:rPr>
                  <a:t> rate (in dollars per gallons)</a:t>
                </a:r>
              </a:p>
              <a:p>
                <a:pPr lvl="0" defTabSz="914400">
                  <a:lnSpc>
                    <a:spcPct val="200000"/>
                  </a:lnSpc>
                  <a:spcBef>
                    <a:spcPts val="1000"/>
                  </a:spcBef>
                </a:pPr>
                <a14:m>
                  <m:oMathPara xmlns:m="http://schemas.openxmlformats.org/officeDocument/2006/math">
                    <m:oMathParaPr>
                      <m:jc m:val="left"/>
                    </m:oMathParaPr>
                    <m:oMath xmlns:m="http://schemas.openxmlformats.org/officeDocument/2006/math">
                      <m:r>
                        <a:rPr lang="en-US" sz="3200" b="0" i="1" smtClean="0">
                          <a:solidFill>
                            <a:prstClr val="black"/>
                          </a:solidFill>
                          <a:latin typeface="Cambria Math" panose="02040503050406030204" pitchFamily="18" charset="0"/>
                          <a:cs typeface="Times New Roman" panose="02020603050405020304" pitchFamily="18" charset="0"/>
                        </a:rPr>
                        <m:t>𝑟</m:t>
                      </m:r>
                      <m:d>
                        <m:dPr>
                          <m:ctrlPr>
                            <a:rPr lang="en-US" sz="3200" i="1">
                              <a:solidFill>
                                <a:prstClr val="black"/>
                              </a:solidFill>
                              <a:latin typeface="Cambria Math" panose="02040503050406030204" pitchFamily="18" charset="0"/>
                              <a:cs typeface="Times New Roman" panose="02020603050405020304" pitchFamily="18" charset="0"/>
                            </a:rPr>
                          </m:ctrlPr>
                        </m:dPr>
                        <m:e>
                          <m:r>
                            <a:rPr lang="en-US" sz="3200" b="0" i="1" smtClean="0">
                              <a:solidFill>
                                <a:prstClr val="black"/>
                              </a:solidFill>
                              <a:latin typeface="Cambria Math" panose="02040503050406030204" pitchFamily="18" charset="0"/>
                              <a:cs typeface="Times New Roman" panose="02020603050405020304" pitchFamily="18" charset="0"/>
                            </a:rPr>
                            <m:t>𝑔</m:t>
                          </m:r>
                        </m:e>
                      </m:d>
                      <m:r>
                        <a:rPr lang="en-US" sz="3200" b="0" i="1" smtClean="0">
                          <a:solidFill>
                            <a:prstClr val="black"/>
                          </a:solidFill>
                          <a:latin typeface="Cambria Math" panose="02040503050406030204" pitchFamily="18" charset="0"/>
                          <a:cs typeface="Times New Roman" panose="02020603050405020304" pitchFamily="18" charset="0"/>
                        </a:rPr>
                        <m:t>=</m:t>
                      </m:r>
                      <m:d>
                        <m:dPr>
                          <m:begChr m:val="{"/>
                          <m:endChr m:val=""/>
                          <m:ctrlPr>
                            <a:rPr lang="en-US" sz="3200" b="0" i="1" smtClean="0">
                              <a:solidFill>
                                <a:prstClr val="black"/>
                              </a:solidFill>
                              <a:latin typeface="Cambria Math" panose="02040503050406030204" pitchFamily="18" charset="0"/>
                              <a:cs typeface="Times New Roman" panose="02020603050405020304" pitchFamily="18" charset="0"/>
                            </a:rPr>
                          </m:ctrlPr>
                        </m:dPr>
                        <m:e>
                          <m:eqArr>
                            <m:eqArrPr>
                              <m:ctrlPr>
                                <a:rPr lang="en-US" sz="3200" b="0" i="1" smtClean="0">
                                  <a:solidFill>
                                    <a:prstClr val="black"/>
                                  </a:solidFill>
                                  <a:latin typeface="Cambria Math" panose="02040503050406030204" pitchFamily="18" charset="0"/>
                                  <a:cs typeface="Times New Roman" panose="02020603050405020304" pitchFamily="18" charset="0"/>
                                </a:rPr>
                              </m:ctrlPr>
                            </m:eqArrPr>
                            <m:e>
                              <m:r>
                                <a:rPr lang="en-US" sz="3200" b="0" i="1" smtClean="0">
                                  <a:solidFill>
                                    <a:prstClr val="black"/>
                                  </a:solidFill>
                                  <a:latin typeface="Cambria Math" panose="02040503050406030204" pitchFamily="18" charset="0"/>
                                  <a:cs typeface="Times New Roman" panose="02020603050405020304" pitchFamily="18" charset="0"/>
                                </a:rPr>
                                <m:t>17.35;                                   0</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≤3000</m:t>
                              </m:r>
                            </m:e>
                            <m:e>
                              <m:r>
                                <a:rPr lang="en-US" sz="3200" b="0" i="1" smtClean="0">
                                  <a:solidFill>
                                    <a:prstClr val="black"/>
                                  </a:solidFill>
                                  <a:latin typeface="Cambria Math" panose="02040503050406030204" pitchFamily="18" charset="0"/>
                                  <a:cs typeface="Times New Roman" panose="02020603050405020304" pitchFamily="18" charset="0"/>
                                </a:rPr>
                                <m:t>0.00524</m:t>
                              </m:r>
                              <m:r>
                                <a:rPr lang="en-US" sz="3200" b="0" i="1" smtClean="0">
                                  <a:solidFill>
                                    <a:prstClr val="black"/>
                                  </a:solidFill>
                                  <a:latin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cs typeface="Times New Roman" panose="02020603050405020304" pitchFamily="18" charset="0"/>
                                </a:rPr>
                                <m:t>+1.63;     3000&lt;</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≤5000</m:t>
                              </m:r>
                            </m:e>
                            <m:e>
                              <m:r>
                                <a:rPr lang="en-US" sz="3200" b="0" i="1" smtClean="0">
                                  <a:solidFill>
                                    <a:prstClr val="black"/>
                                  </a:solidFill>
                                  <a:latin typeface="Cambria Math" panose="02040503050406030204" pitchFamily="18" charset="0"/>
                                  <a:cs typeface="Times New Roman" panose="02020603050405020304" pitchFamily="18" charset="0"/>
                                </a:rPr>
                                <m:t>0.00396</m:t>
                              </m:r>
                              <m:r>
                                <a:rPr lang="en-US" sz="3200" b="0" i="1" smtClean="0">
                                  <a:solidFill>
                                    <a:prstClr val="black"/>
                                  </a:solidFill>
                                  <a:latin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cs typeface="Times New Roman" panose="02020603050405020304" pitchFamily="18" charset="0"/>
                                </a:rPr>
                                <m:t>+8.03;   5000&lt;</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≤10000</m:t>
                              </m:r>
                            </m:e>
                            <m:e>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0.0031</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+16.63;                   </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𝑔</m:t>
                              </m:r>
                              <m:r>
                                <a:rPr lang="en-US" sz="32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&gt;10000</m:t>
                              </m:r>
                            </m:e>
                          </m:eqArr>
                        </m:e>
                      </m:d>
                    </m:oMath>
                  </m:oMathPara>
                </a14:m>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10" name="object 13">
                <a:extLst>
                  <a:ext uri="{FF2B5EF4-FFF2-40B4-BE49-F238E27FC236}">
                    <a16:creationId xmlns:a16="http://schemas.microsoft.com/office/drawing/2014/main" id="{DF13D9C0-30FF-4F77-B5ED-80E925594928}"/>
                  </a:ext>
                </a:extLst>
              </p:cNvPr>
              <p:cNvSpPr txBox="1">
                <a:spLocks noRot="1" noChangeAspect="1" noMove="1" noResize="1" noEditPoints="1" noAdjustHandles="1" noChangeArrowheads="1" noChangeShapeType="1" noTextEdit="1"/>
              </p:cNvSpPr>
              <p:nvPr/>
            </p:nvSpPr>
            <p:spPr>
              <a:xfrm>
                <a:off x="9910009" y="218276"/>
                <a:ext cx="8911987" cy="7009483"/>
              </a:xfrm>
              <a:prstGeom prst="rect">
                <a:avLst/>
              </a:prstGeom>
              <a:blipFill>
                <a:blip r:embed="rId2"/>
                <a:stretch>
                  <a:fillRect l="-2189"/>
                </a:stretch>
              </a:blipFill>
            </p:spPr>
            <p:txBody>
              <a:bodyPr/>
              <a:lstStyle/>
              <a:p>
                <a:r>
                  <a:rPr lang="en-US">
                    <a:noFill/>
                  </a:rPr>
                  <a:t> </a:t>
                </a:r>
              </a:p>
            </p:txBody>
          </p:sp>
        </mc:Fallback>
      </mc:AlternateContent>
      <p:sp>
        <p:nvSpPr>
          <p:cNvPr id="11" name="object 7">
            <a:extLst>
              <a:ext uri="{FF2B5EF4-FFF2-40B4-BE49-F238E27FC236}">
                <a16:creationId xmlns:a16="http://schemas.microsoft.com/office/drawing/2014/main" id="{427B856C-B38F-47CB-8E5C-D091936B66D3}"/>
              </a:ext>
            </a:extLst>
          </p:cNvPr>
          <p:cNvSpPr/>
          <p:nvPr/>
        </p:nvSpPr>
        <p:spPr>
          <a:xfrm>
            <a:off x="-1" y="884525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endParaRPr dirty="0"/>
          </a:p>
        </p:txBody>
      </p:sp>
      <p:sp>
        <p:nvSpPr>
          <p:cNvPr id="12" name="object 9">
            <a:extLst>
              <a:ext uri="{FF2B5EF4-FFF2-40B4-BE49-F238E27FC236}">
                <a16:creationId xmlns:a16="http://schemas.microsoft.com/office/drawing/2014/main" id="{0E96F5FD-D13C-453A-8CFD-A8F73FC43609}"/>
              </a:ext>
            </a:extLst>
          </p:cNvPr>
          <p:cNvSpPr txBox="1"/>
          <p:nvPr/>
        </p:nvSpPr>
        <p:spPr>
          <a:xfrm>
            <a:off x="109183" y="9037400"/>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latin typeface="Times New Roman" panose="02020603050405020304" pitchFamily="18" charset="0"/>
                <a:cs typeface="Times New Roman" panose="02020603050405020304" pitchFamily="18" charset="0"/>
                <a:hlinkClick r:id="rId3"/>
              </a:rPr>
              <a:t>Students Projects</a:t>
            </a:r>
            <a:endParaRPr lang="cs-CZ"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4982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Federal Income Tax 2018</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object 13"/>
              <p:cNvSpPr txBox="1"/>
              <p:nvPr/>
            </p:nvSpPr>
            <p:spPr>
              <a:xfrm>
                <a:off x="286604" y="1020144"/>
                <a:ext cx="13811533" cy="1692899"/>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latin typeface="Times New Roman" panose="02020603050405020304" pitchFamily="18" charset="0"/>
                    <a:cs typeface="Times New Roman" panose="02020603050405020304" pitchFamily="18" charset="0"/>
                  </a:rPr>
                  <a:t>The 2018 Federal Income Tax rates for the four filing options is shown in the table below.</a:t>
                </a: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17780" lvl="0">
                  <a:lnSpc>
                    <a:spcPct val="150000"/>
                  </a:lnSpc>
                  <a:spcBef>
                    <a:spcPts val="100"/>
                  </a:spcBef>
                </a:pPr>
                <a:r>
                  <a:rPr lang="en-US" sz="2500" dirty="0">
                    <a:latin typeface="Times New Roman" panose="02020603050405020304" pitchFamily="18" charset="0"/>
                    <a:cs typeface="Times New Roman" panose="02020603050405020304" pitchFamily="18" charset="0"/>
                  </a:rPr>
                  <a:t>Using the variable: </a:t>
                </a:r>
                <a14:m>
                  <m:oMath xmlns:m="http://schemas.openxmlformats.org/officeDocument/2006/math">
                    <m:r>
                      <a:rPr lang="en-US" sz="2500" b="0" i="1" smtClean="0">
                        <a:latin typeface="Cambria Math" panose="02040503050406030204" pitchFamily="18" charset="0"/>
                        <a:cs typeface="Times New Roman" panose="02020603050405020304" pitchFamily="18" charset="0"/>
                      </a:rPr>
                      <m:t>𝑝</m:t>
                    </m:r>
                  </m:oMath>
                </a14:m>
                <a:r>
                  <a:rPr lang="en-US" sz="2500" dirty="0">
                    <a:latin typeface="Times New Roman" panose="02020603050405020304" pitchFamily="18" charset="0"/>
                    <a:cs typeface="Times New Roman" panose="02020603050405020304" pitchFamily="18" charset="0"/>
                  </a:rPr>
                  <a:t> as the taxable income and </a:t>
                </a:r>
                <a14:m>
                  <m:oMath xmlns:m="http://schemas.openxmlformats.org/officeDocument/2006/math">
                    <m:r>
                      <a:rPr lang="en-US" sz="2500" b="0" i="1" smtClean="0">
                        <a:latin typeface="Cambria Math" panose="02040503050406030204" pitchFamily="18" charset="0"/>
                        <a:cs typeface="Times New Roman" panose="02020603050405020304" pitchFamily="18" charset="0"/>
                      </a:rPr>
                      <m:t>𝑡</m:t>
                    </m:r>
                  </m:oMath>
                </a14:m>
                <a:r>
                  <a:rPr lang="en-US" sz="2500" dirty="0">
                    <a:latin typeface="Times New Roman" panose="02020603050405020304" pitchFamily="18" charset="0"/>
                    <a:cs typeface="Times New Roman" panose="02020603050405020304" pitchFamily="18" charset="0"/>
                  </a:rPr>
                  <a:t> as the tax, develop a piecewise function for each filing option.</a:t>
                </a:r>
                <a:endParaRPr lang="en-US" sz="25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13" name="object 13"/>
              <p:cNvSpPr txBox="1">
                <a:spLocks noRot="1" noChangeAspect="1" noMove="1" noResize="1" noEditPoints="1" noAdjustHandles="1" noChangeArrowheads="1" noChangeShapeType="1" noTextEdit="1"/>
              </p:cNvSpPr>
              <p:nvPr/>
            </p:nvSpPr>
            <p:spPr>
              <a:xfrm>
                <a:off x="286604" y="1020144"/>
                <a:ext cx="13811533" cy="1692899"/>
              </a:xfrm>
              <a:prstGeom prst="rect">
                <a:avLst/>
              </a:prstGeom>
              <a:blipFill>
                <a:blip r:embed="rId2"/>
                <a:stretch>
                  <a:fillRect l="-1280" b="-9712"/>
                </a:stretch>
              </a:blipFill>
            </p:spPr>
            <p:txBody>
              <a:bodyPr/>
              <a:lstStyle/>
              <a:p>
                <a:r>
                  <a:rPr lang="en-US">
                    <a:noFill/>
                  </a:rPr>
                  <a:t> </a:t>
                </a:r>
              </a:p>
            </p:txBody>
          </p:sp>
        </mc:Fallback>
      </mc:AlternateContent>
      <p:sp>
        <p:nvSpPr>
          <p:cNvPr id="11" name="object 7">
            <a:extLst>
              <a:ext uri="{FF2B5EF4-FFF2-40B4-BE49-F238E27FC236}">
                <a16:creationId xmlns:a16="http://schemas.microsoft.com/office/drawing/2014/main" id="{427B856C-B38F-47CB-8E5C-D091936B66D3}"/>
              </a:ext>
            </a:extLst>
          </p:cNvPr>
          <p:cNvSpPr/>
          <p:nvPr/>
        </p:nvSpPr>
        <p:spPr>
          <a:xfrm>
            <a:off x="-1" y="967325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endParaRPr dirty="0"/>
          </a:p>
        </p:txBody>
      </p:sp>
      <p:sp>
        <p:nvSpPr>
          <p:cNvPr id="12" name="object 9">
            <a:extLst>
              <a:ext uri="{FF2B5EF4-FFF2-40B4-BE49-F238E27FC236}">
                <a16:creationId xmlns:a16="http://schemas.microsoft.com/office/drawing/2014/main" id="{0E96F5FD-D13C-453A-8CFD-A8F73FC43609}"/>
              </a:ext>
            </a:extLst>
          </p:cNvPr>
          <p:cNvSpPr txBox="1"/>
          <p:nvPr/>
        </p:nvSpPr>
        <p:spPr>
          <a:xfrm>
            <a:off x="109183" y="9865400"/>
            <a:ext cx="4767619" cy="443711"/>
          </a:xfrm>
          <a:prstGeom prst="rect">
            <a:avLst/>
          </a:prstGeom>
        </p:spPr>
        <p:txBody>
          <a:bodyPr vert="horz" wrap="square" lIns="0" tIns="12700" rIns="0" bIns="0" rtlCol="0">
            <a:spAutoFit/>
          </a:bodyPr>
          <a:lstStyle/>
          <a:p>
            <a:pPr marL="12700" algn="ctr">
              <a:lnSpc>
                <a:spcPct val="100000"/>
              </a:lnSpc>
              <a:spcBef>
                <a:spcPts val="100"/>
              </a:spcBef>
            </a:pPr>
            <a:r>
              <a:rPr lang="en-US" sz="2800" dirty="0">
                <a:solidFill>
                  <a:srgbClr val="FFFFFF"/>
                </a:solidFill>
                <a:latin typeface="Times New Roman" panose="02020603050405020304" pitchFamily="18" charset="0"/>
                <a:cs typeface="Times New Roman" panose="02020603050405020304" pitchFamily="18" charset="0"/>
                <a:hlinkClick r:id="rId3"/>
              </a:rPr>
              <a:t>Students Projects</a:t>
            </a:r>
            <a:endParaRPr lang="cs-CZ"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0A4356E-2A15-4EDD-9EA4-EA3411D6D905}"/>
              </a:ext>
            </a:extLst>
          </p:cNvPr>
          <p:cNvPicPr>
            <a:picLocks noChangeAspect="1"/>
          </p:cNvPicPr>
          <p:nvPr/>
        </p:nvPicPr>
        <p:blipFill>
          <a:blip r:embed="rId4"/>
          <a:stretch>
            <a:fillRect/>
          </a:stretch>
        </p:blipFill>
        <p:spPr>
          <a:xfrm>
            <a:off x="109183" y="2773674"/>
            <a:ext cx="17154525" cy="6838950"/>
          </a:xfrm>
          <a:prstGeom prst="rect">
            <a:avLst/>
          </a:prstGeom>
        </p:spPr>
      </p:pic>
    </p:spTree>
    <p:extLst>
      <p:ext uri="{BB962C8B-B14F-4D97-AF65-F5344CB8AC3E}">
        <p14:creationId xmlns:p14="http://schemas.microsoft.com/office/powerpoint/2010/main" val="3518313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Single</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object 13"/>
              <p:cNvSpPr txBox="1"/>
              <p:nvPr/>
            </p:nvSpPr>
            <p:spPr>
              <a:xfrm>
                <a:off x="150127" y="1347691"/>
                <a:ext cx="8243246" cy="6229269"/>
              </a:xfrm>
              <a:prstGeom prst="rect">
                <a:avLst/>
              </a:prstGeom>
            </p:spPr>
            <p:txBody>
              <a:bodyPr vert="horz" wrap="square" lIns="0" tIns="5080" rIns="0" bIns="0" rtlCol="0">
                <a:spAutoFit/>
              </a:bodyPr>
              <a:lstStyle/>
              <a:p>
                <a:pPr marL="12700" marR="17780" lvl="0">
                  <a:lnSpc>
                    <a:spcPct val="200000"/>
                  </a:lnSpc>
                  <a:spcBef>
                    <a:spcPts val="100"/>
                  </a:spcBef>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Times New Roman" panose="02020603050405020304" pitchFamily="18" charset="0"/>
                        </a:rPr>
                        <m:t>𝑡</m:t>
                      </m:r>
                      <m:d>
                        <m:dPr>
                          <m:ctrlPr>
                            <a:rPr lang="en-US" sz="2800" b="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𝑝</m:t>
                          </m:r>
                        </m:e>
                      </m:d>
                      <m:r>
                        <a:rPr lang="en-US" sz="2800" b="0" i="1" smtClean="0">
                          <a:latin typeface="Cambria Math" panose="02040503050406030204" pitchFamily="18" charset="0"/>
                          <a:cs typeface="Times New Roman" panose="02020603050405020304" pitchFamily="18" charset="0"/>
                        </a:rPr>
                        <m:t>=</m:t>
                      </m:r>
                      <m:d>
                        <m:dPr>
                          <m:begChr m:val="{"/>
                          <m:endChr m:val=""/>
                          <m:ctrlPr>
                            <a:rPr lang="en-US" sz="2800" b="0" i="1" smtClean="0">
                              <a:latin typeface="Cambria Math" panose="02040503050406030204" pitchFamily="18" charset="0"/>
                              <a:cs typeface="Times New Roman" panose="02020603050405020304" pitchFamily="18" charset="0"/>
                            </a:rPr>
                          </m:ctrlPr>
                        </m:dPr>
                        <m:e>
                          <m:eqArr>
                            <m:eqArrPr>
                              <m:ctrlPr>
                                <a:rPr lang="en-US" sz="2800" b="0" i="1" smtClean="0">
                                  <a:latin typeface="Cambria Math" panose="02040503050406030204" pitchFamily="18" charset="0"/>
                                  <a:cs typeface="Times New Roman" panose="02020603050405020304" pitchFamily="18" charset="0"/>
                                </a:rPr>
                              </m:ctrlPr>
                            </m:eqArrPr>
                            <m:e>
                              <m:r>
                                <a:rPr lang="en-US" sz="2800" b="0" i="1" smtClean="0">
                                  <a:latin typeface="Cambria Math" panose="02040503050406030204" pitchFamily="18" charset="0"/>
                                  <a:cs typeface="Times New Roman" panose="02020603050405020304" pitchFamily="18" charset="0"/>
                                </a:rPr>
                                <m:t>0.1</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                                              0≤</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≤9525</m:t>
                              </m:r>
                            </m:e>
                            <m:e>
                              <m:r>
                                <a:rPr lang="en-US" sz="2800" b="0" i="1" smtClean="0">
                                  <a:latin typeface="Cambria Math" panose="02040503050406030204" pitchFamily="18" charset="0"/>
                                  <a:cs typeface="Times New Roman" panose="02020603050405020304" pitchFamily="18" charset="0"/>
                                </a:rPr>
                                <m:t>0.12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−190.5;                  9525&lt;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≤38700</m:t>
                              </m:r>
                            </m:e>
                            <m:e>
                              <m:r>
                                <a:rPr lang="en-US" sz="2800" b="0" i="1" smtClean="0">
                                  <a:latin typeface="Cambria Math" panose="02040503050406030204" pitchFamily="18" charset="0"/>
                                  <a:cs typeface="Times New Roman" panose="02020603050405020304" pitchFamily="18" charset="0"/>
                                </a:rPr>
                                <m:t>0.22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−4060.5;             38700&lt;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≤82500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0.24</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−5710.5;           82500&lt;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≤157500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0.32</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−18310.5;      157500&lt;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0.35</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−24310.5;      200000&lt;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≤500000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0.37</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−34310.5;                           </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&gt;500000</m:t>
                              </m:r>
                            </m:e>
                          </m:eqArr>
                        </m:e>
                      </m:d>
                    </m:oMath>
                  </m:oMathPara>
                </a14:m>
                <a:endParaRPr lang="en-US" sz="28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13" name="object 13"/>
              <p:cNvSpPr txBox="1">
                <a:spLocks noRot="1" noChangeAspect="1" noMove="1" noResize="1" noEditPoints="1" noAdjustHandles="1" noChangeArrowheads="1" noChangeShapeType="1" noTextEdit="1"/>
              </p:cNvSpPr>
              <p:nvPr/>
            </p:nvSpPr>
            <p:spPr>
              <a:xfrm>
                <a:off x="150127" y="1347691"/>
                <a:ext cx="8243246" cy="6229269"/>
              </a:xfrm>
              <a:prstGeom prst="rect">
                <a:avLst/>
              </a:prstGeom>
              <a:blipFill>
                <a:blip r:embed="rId2"/>
                <a:stretch>
                  <a:fillRect/>
                </a:stretch>
              </a:blipFill>
            </p:spPr>
            <p:txBody>
              <a:bodyPr/>
              <a:lstStyle/>
              <a:p>
                <a:r>
                  <a:rPr lang="en-US">
                    <a:noFill/>
                  </a:rPr>
                  <a:t> </a:t>
                </a:r>
              </a:p>
            </p:txBody>
          </p:sp>
        </mc:Fallback>
      </mc:AlternateContent>
      <p:sp>
        <p:nvSpPr>
          <p:cNvPr id="8" name="object 7">
            <a:extLst>
              <a:ext uri="{FF2B5EF4-FFF2-40B4-BE49-F238E27FC236}">
                <a16:creationId xmlns:a16="http://schemas.microsoft.com/office/drawing/2014/main" id="{93710246-22DA-4A0E-AA94-AD6FB731E12E}"/>
              </a:ext>
            </a:extLst>
          </p:cNvPr>
          <p:cNvSpPr/>
          <p:nvPr/>
        </p:nvSpPr>
        <p:spPr>
          <a:xfrm>
            <a:off x="12503624" y="-1"/>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object 9">
            <a:extLst>
              <a:ext uri="{FF2B5EF4-FFF2-40B4-BE49-F238E27FC236}">
                <a16:creationId xmlns:a16="http://schemas.microsoft.com/office/drawing/2014/main" id="{DB03DC03-39C0-4B13-99BD-BA366827480C}"/>
              </a:ext>
            </a:extLst>
          </p:cNvPr>
          <p:cNvSpPr txBox="1"/>
          <p:nvPr/>
        </p:nvSpPr>
        <p:spPr>
          <a:xfrm>
            <a:off x="12842544" y="210358"/>
            <a:ext cx="5153765"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Head of Household</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0EE2FCC1-4065-4495-AB4F-FDA0288553DB}"/>
                  </a:ext>
                </a:extLst>
              </p:cNvPr>
              <p:cNvSpPr txBox="1"/>
              <p:nvPr/>
            </p:nvSpPr>
            <p:spPr>
              <a:xfrm>
                <a:off x="10450834" y="1347691"/>
                <a:ext cx="8243246" cy="6229269"/>
              </a:xfrm>
              <a:prstGeom prst="rect">
                <a:avLst/>
              </a:prstGeom>
            </p:spPr>
            <p:txBody>
              <a:bodyPr vert="horz" wrap="square" lIns="0" tIns="5080" rIns="0" bIns="0" rtlCol="0">
                <a:spAutoFit/>
              </a:bodyPr>
              <a:lstStyle/>
              <a:p>
                <a:pPr marL="12700" marR="17780" lvl="0">
                  <a:lnSpc>
                    <a:spcPct val="200000"/>
                  </a:lnSpc>
                  <a:spcBef>
                    <a:spcPts val="100"/>
                  </a:spcBef>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Times New Roman" panose="02020603050405020304" pitchFamily="18" charset="0"/>
                        </a:rPr>
                        <m:t>𝑡</m:t>
                      </m:r>
                      <m:d>
                        <m:dPr>
                          <m:ctrlPr>
                            <a:rPr lang="en-US" sz="2800" b="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𝑝</m:t>
                          </m:r>
                        </m:e>
                      </m:d>
                      <m:r>
                        <a:rPr lang="en-US" sz="2800" b="0" i="1" smtClean="0">
                          <a:latin typeface="Cambria Math" panose="02040503050406030204" pitchFamily="18" charset="0"/>
                          <a:cs typeface="Times New Roman" panose="02020603050405020304" pitchFamily="18" charset="0"/>
                        </a:rPr>
                        <m:t>=</m:t>
                      </m:r>
                      <m:d>
                        <m:dPr>
                          <m:begChr m:val="{"/>
                          <m:endChr m:val=""/>
                          <m:ctrlPr>
                            <a:rPr lang="en-US" sz="2800" b="0" i="1" smtClean="0">
                              <a:latin typeface="Cambria Math" panose="02040503050406030204" pitchFamily="18" charset="0"/>
                              <a:cs typeface="Times New Roman" panose="02020603050405020304" pitchFamily="18" charset="0"/>
                            </a:rPr>
                          </m:ctrlPr>
                        </m:dPr>
                        <m:e>
                          <m:eqArr>
                            <m:eqArrPr>
                              <m:ctrlPr>
                                <a:rPr lang="en-US" sz="2800" b="0" i="1" smtClean="0">
                                  <a:latin typeface="Cambria Math" panose="02040503050406030204" pitchFamily="18" charset="0"/>
                                  <a:cs typeface="Times New Roman" panose="02020603050405020304" pitchFamily="18" charset="0"/>
                                </a:rPr>
                              </m:ctrlPr>
                            </m:eqArrPr>
                            <m:e>
                              <m:r>
                                <a:rPr lang="en-US" sz="2800" b="0" i="1" smtClean="0">
                                  <a:latin typeface="Cambria Math" panose="02040503050406030204" pitchFamily="18" charset="0"/>
                                  <a:cs typeface="Times New Roman" panose="02020603050405020304" pitchFamily="18" charset="0"/>
                                </a:rPr>
                                <m:t>0.1</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                                          0≤</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≤13600</m:t>
                              </m:r>
                            </m:e>
                            <m:e>
                              <m:r>
                                <a:rPr lang="en-US" sz="2800" b="0" i="1" smtClean="0">
                                  <a:latin typeface="Cambria Math" panose="02040503050406030204" pitchFamily="18" charset="0"/>
                                  <a:cs typeface="Times New Roman" panose="02020603050405020304" pitchFamily="18" charset="0"/>
                                </a:rPr>
                                <m:t>0.12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−272;                13600&lt;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≤51800</m:t>
                              </m:r>
                            </m:e>
                            <m:e>
                              <m:r>
                                <a:rPr lang="en-US" sz="2800" b="0" i="1" smtClean="0">
                                  <a:latin typeface="Cambria Math" panose="02040503050406030204" pitchFamily="18" charset="0"/>
                                  <a:cs typeface="Times New Roman" panose="02020603050405020304" pitchFamily="18" charset="0"/>
                                </a:rPr>
                                <m:t>0.22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−5452;              51800&lt;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≤82500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0.24</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−7102;            82500&lt;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≤157500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0.32</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−19702;       157500&lt;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0.35</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−25702;       200000&lt;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≤500000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0.37</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−35702;                            </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&gt;500000</m:t>
                              </m:r>
                            </m:e>
                          </m:eqArr>
                        </m:e>
                      </m:d>
                    </m:oMath>
                  </m:oMathPara>
                </a14:m>
                <a:endParaRPr lang="en-US" sz="28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14" name="object 13">
                <a:extLst>
                  <a:ext uri="{FF2B5EF4-FFF2-40B4-BE49-F238E27FC236}">
                    <a16:creationId xmlns:a16="http://schemas.microsoft.com/office/drawing/2014/main" id="{0EE2FCC1-4065-4495-AB4F-FDA0288553DB}"/>
                  </a:ext>
                </a:extLst>
              </p:cNvPr>
              <p:cNvSpPr txBox="1">
                <a:spLocks noRot="1" noChangeAspect="1" noMove="1" noResize="1" noEditPoints="1" noAdjustHandles="1" noChangeArrowheads="1" noChangeShapeType="1" noTextEdit="1"/>
              </p:cNvSpPr>
              <p:nvPr/>
            </p:nvSpPr>
            <p:spPr>
              <a:xfrm>
                <a:off x="10450834" y="1347691"/>
                <a:ext cx="8243246" cy="622926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36734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150127" y="192144"/>
            <a:ext cx="590947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lang="en-US" sz="2800" dirty="0">
                <a:solidFill>
                  <a:srgbClr val="FFFFFF"/>
                </a:solidFill>
                <a:latin typeface="Times New Roman" panose="02020603050405020304" pitchFamily="18" charset="0"/>
                <a:cs typeface="Times New Roman" panose="02020603050405020304" pitchFamily="18" charset="0"/>
              </a:rPr>
              <a:t>Married Filing Jointly/Qualifying Widow</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object 13"/>
              <p:cNvSpPr txBox="1"/>
              <p:nvPr/>
            </p:nvSpPr>
            <p:spPr>
              <a:xfrm>
                <a:off x="150127" y="1347691"/>
                <a:ext cx="8243246" cy="6229269"/>
              </a:xfrm>
              <a:prstGeom prst="rect">
                <a:avLst/>
              </a:prstGeom>
            </p:spPr>
            <p:txBody>
              <a:bodyPr vert="horz" wrap="square" lIns="0" tIns="5080" rIns="0" bIns="0" rtlCol="0">
                <a:spAutoFit/>
              </a:bodyPr>
              <a:lstStyle/>
              <a:p>
                <a:pPr marL="12700" marR="17780" lvl="0">
                  <a:lnSpc>
                    <a:spcPct val="200000"/>
                  </a:lnSpc>
                  <a:spcBef>
                    <a:spcPts val="100"/>
                  </a:spcBef>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Times New Roman" panose="02020603050405020304" pitchFamily="18" charset="0"/>
                        </a:rPr>
                        <m:t>𝑡</m:t>
                      </m:r>
                      <m:d>
                        <m:dPr>
                          <m:ctrlPr>
                            <a:rPr lang="en-US" sz="2800" b="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𝑝</m:t>
                          </m:r>
                        </m:e>
                      </m:d>
                      <m:r>
                        <a:rPr lang="en-US" sz="2800" b="0" i="1" smtClean="0">
                          <a:latin typeface="Cambria Math" panose="02040503050406030204" pitchFamily="18" charset="0"/>
                          <a:cs typeface="Times New Roman" panose="02020603050405020304" pitchFamily="18" charset="0"/>
                        </a:rPr>
                        <m:t>=</m:t>
                      </m:r>
                      <m:d>
                        <m:dPr>
                          <m:begChr m:val="{"/>
                          <m:endChr m:val=""/>
                          <m:ctrlPr>
                            <a:rPr lang="en-US" sz="2800" b="0" i="1" smtClean="0">
                              <a:latin typeface="Cambria Math" panose="02040503050406030204" pitchFamily="18" charset="0"/>
                              <a:cs typeface="Times New Roman" panose="02020603050405020304" pitchFamily="18" charset="0"/>
                            </a:rPr>
                          </m:ctrlPr>
                        </m:dPr>
                        <m:e>
                          <m:eqArr>
                            <m:eqArrPr>
                              <m:ctrlPr>
                                <a:rPr lang="en-US" sz="2800" b="0" i="1" smtClean="0">
                                  <a:latin typeface="Cambria Math" panose="02040503050406030204" pitchFamily="18" charset="0"/>
                                  <a:cs typeface="Times New Roman" panose="02020603050405020304" pitchFamily="18" charset="0"/>
                                </a:rPr>
                              </m:ctrlPr>
                            </m:eqArrPr>
                            <m:e>
                              <m:r>
                                <a:rPr lang="en-US" sz="2800" b="0" i="1" smtClean="0">
                                  <a:latin typeface="Cambria Math" panose="02040503050406030204" pitchFamily="18" charset="0"/>
                                  <a:cs typeface="Times New Roman" panose="02020603050405020304" pitchFamily="18" charset="0"/>
                                </a:rPr>
                                <m:t>0.1</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                                              0≤</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≤19050</m:t>
                              </m:r>
                            </m:e>
                            <m:e>
                              <m:r>
                                <a:rPr lang="en-US" sz="2800" b="0" i="1" smtClean="0">
                                  <a:latin typeface="Cambria Math" panose="02040503050406030204" pitchFamily="18" charset="0"/>
                                  <a:cs typeface="Times New Roman" panose="02020603050405020304" pitchFamily="18" charset="0"/>
                                </a:rPr>
                                <m:t>0.12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−381;                     19050&lt;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≤77400</m:t>
                              </m:r>
                            </m:e>
                            <m:e>
                              <m:r>
                                <a:rPr lang="en-US" sz="2800" b="0" i="1" smtClean="0">
                                  <a:latin typeface="Cambria Math" panose="02040503050406030204" pitchFamily="18" charset="0"/>
                                  <a:cs typeface="Times New Roman" panose="02020603050405020304" pitchFamily="18" charset="0"/>
                                </a:rPr>
                                <m:t>0.22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−8121;                77400&lt;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≤165000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0.24</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−11421;           165000&lt;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≤315000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0.32</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−36621;           315000&lt;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≤400000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0.35</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−48621;           400000&lt;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≤600000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0.37</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−60621;                                </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&gt;600000</m:t>
                              </m:r>
                            </m:e>
                          </m:eqArr>
                        </m:e>
                      </m:d>
                    </m:oMath>
                  </m:oMathPara>
                </a14:m>
                <a:endParaRPr lang="en-US" sz="28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13" name="object 13"/>
              <p:cNvSpPr txBox="1">
                <a:spLocks noRot="1" noChangeAspect="1" noMove="1" noResize="1" noEditPoints="1" noAdjustHandles="1" noChangeArrowheads="1" noChangeShapeType="1" noTextEdit="1"/>
              </p:cNvSpPr>
              <p:nvPr/>
            </p:nvSpPr>
            <p:spPr>
              <a:xfrm>
                <a:off x="150127" y="1347691"/>
                <a:ext cx="8243246" cy="6229269"/>
              </a:xfrm>
              <a:prstGeom prst="rect">
                <a:avLst/>
              </a:prstGeom>
              <a:blipFill>
                <a:blip r:embed="rId2"/>
                <a:stretch>
                  <a:fillRect/>
                </a:stretch>
              </a:blipFill>
            </p:spPr>
            <p:txBody>
              <a:bodyPr/>
              <a:lstStyle/>
              <a:p>
                <a:r>
                  <a:rPr lang="en-US">
                    <a:noFill/>
                  </a:rPr>
                  <a:t> </a:t>
                </a:r>
              </a:p>
            </p:txBody>
          </p:sp>
        </mc:Fallback>
      </mc:AlternateContent>
      <p:sp>
        <p:nvSpPr>
          <p:cNvPr id="8" name="object 7">
            <a:extLst>
              <a:ext uri="{FF2B5EF4-FFF2-40B4-BE49-F238E27FC236}">
                <a16:creationId xmlns:a16="http://schemas.microsoft.com/office/drawing/2014/main" id="{93710246-22DA-4A0E-AA94-AD6FB731E12E}"/>
              </a:ext>
            </a:extLst>
          </p:cNvPr>
          <p:cNvSpPr/>
          <p:nvPr/>
        </p:nvSpPr>
        <p:spPr>
          <a:xfrm>
            <a:off x="12503624"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object 9">
            <a:extLst>
              <a:ext uri="{FF2B5EF4-FFF2-40B4-BE49-F238E27FC236}">
                <a16:creationId xmlns:a16="http://schemas.microsoft.com/office/drawing/2014/main" id="{DB03DC03-39C0-4B13-99BD-BA366827480C}"/>
              </a:ext>
            </a:extLst>
          </p:cNvPr>
          <p:cNvSpPr txBox="1"/>
          <p:nvPr/>
        </p:nvSpPr>
        <p:spPr>
          <a:xfrm>
            <a:off x="12828896" y="192144"/>
            <a:ext cx="5153765"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Married Filing Separately</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0EE2FCC1-4065-4495-AB4F-FDA0288553DB}"/>
                  </a:ext>
                </a:extLst>
              </p:cNvPr>
              <p:cNvSpPr txBox="1"/>
              <p:nvPr/>
            </p:nvSpPr>
            <p:spPr>
              <a:xfrm>
                <a:off x="10450834" y="1347691"/>
                <a:ext cx="8243246" cy="6229269"/>
              </a:xfrm>
              <a:prstGeom prst="rect">
                <a:avLst/>
              </a:prstGeom>
            </p:spPr>
            <p:txBody>
              <a:bodyPr vert="horz" wrap="square" lIns="0" tIns="5080" rIns="0" bIns="0" rtlCol="0">
                <a:spAutoFit/>
              </a:bodyPr>
              <a:lstStyle/>
              <a:p>
                <a:pPr marL="12700" marR="17780" lvl="0">
                  <a:lnSpc>
                    <a:spcPct val="200000"/>
                  </a:lnSpc>
                  <a:spcBef>
                    <a:spcPts val="100"/>
                  </a:spcBef>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cs typeface="Times New Roman" panose="02020603050405020304" pitchFamily="18" charset="0"/>
                        </a:rPr>
                        <m:t>𝑡</m:t>
                      </m:r>
                      <m:d>
                        <m:dPr>
                          <m:ctrlPr>
                            <a:rPr lang="en-US" sz="2800" b="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𝑝</m:t>
                          </m:r>
                        </m:e>
                      </m:d>
                      <m:r>
                        <a:rPr lang="en-US" sz="2800" b="0" i="1" smtClean="0">
                          <a:latin typeface="Cambria Math" panose="02040503050406030204" pitchFamily="18" charset="0"/>
                          <a:cs typeface="Times New Roman" panose="02020603050405020304" pitchFamily="18" charset="0"/>
                        </a:rPr>
                        <m:t>=</m:t>
                      </m:r>
                      <m:d>
                        <m:dPr>
                          <m:begChr m:val="{"/>
                          <m:endChr m:val=""/>
                          <m:ctrlPr>
                            <a:rPr lang="en-US" sz="2800" b="0" i="1" smtClean="0">
                              <a:latin typeface="Cambria Math" panose="02040503050406030204" pitchFamily="18" charset="0"/>
                              <a:cs typeface="Times New Roman" panose="02020603050405020304" pitchFamily="18" charset="0"/>
                            </a:rPr>
                          </m:ctrlPr>
                        </m:dPr>
                        <m:e>
                          <m:eqArr>
                            <m:eqArrPr>
                              <m:ctrlPr>
                                <a:rPr lang="en-US" sz="2800" b="0" i="1" smtClean="0">
                                  <a:latin typeface="Cambria Math" panose="02040503050406030204" pitchFamily="18" charset="0"/>
                                  <a:cs typeface="Times New Roman" panose="02020603050405020304" pitchFamily="18" charset="0"/>
                                </a:rPr>
                              </m:ctrlPr>
                            </m:eqArrPr>
                            <m:e>
                              <m:r>
                                <a:rPr lang="en-US" sz="2800" b="0" i="1" smtClean="0">
                                  <a:latin typeface="Cambria Math" panose="02040503050406030204" pitchFamily="18" charset="0"/>
                                  <a:cs typeface="Times New Roman" panose="02020603050405020304" pitchFamily="18" charset="0"/>
                                </a:rPr>
                                <m:t>0.1</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                                                0≤</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≤9525</m:t>
                              </m:r>
                            </m:e>
                            <m:e>
                              <m:r>
                                <a:rPr lang="en-US" sz="2800" b="0" i="1" smtClean="0">
                                  <a:latin typeface="Cambria Math" panose="02040503050406030204" pitchFamily="18" charset="0"/>
                                  <a:cs typeface="Times New Roman" panose="02020603050405020304" pitchFamily="18" charset="0"/>
                                </a:rPr>
                                <m:t>0.12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−190.5;                   9525&lt;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≤38700</m:t>
                              </m:r>
                            </m:e>
                            <m:e>
                              <m:r>
                                <a:rPr lang="en-US" sz="2800" b="0" i="1" smtClean="0">
                                  <a:latin typeface="Cambria Math" panose="02040503050406030204" pitchFamily="18" charset="0"/>
                                  <a:cs typeface="Times New Roman" panose="02020603050405020304" pitchFamily="18" charset="0"/>
                                </a:rPr>
                                <m:t>0.22</m:t>
                              </m:r>
                              <m:r>
                                <a:rPr lang="en-US" sz="2800" b="0" i="1" smtClean="0">
                                  <a:latin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cs typeface="Times New Roman" panose="02020603050405020304" pitchFamily="18" charset="0"/>
                                </a:rPr>
                                <m:t>−4060.5;              38700&lt;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≤82500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0.24</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−5710.5;            82500&lt;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≤157000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0.32</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−18270.5;       157000&lt;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0.35</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−24270.5;       200000&lt;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≤300000</m:t>
                              </m:r>
                            </m:e>
                            <m:e>
                              <m:r>
                                <a:rPr lang="en-US" sz="2800" b="0" i="1" smtClean="0">
                                  <a:latin typeface="Cambria Math" panose="02040503050406030204" pitchFamily="18" charset="0"/>
                                  <a:ea typeface="Cambria Math" panose="02040503050406030204" pitchFamily="18" charset="0"/>
                                  <a:cs typeface="Times New Roman" panose="02020603050405020304" pitchFamily="18" charset="0"/>
                                </a:rPr>
                                <m:t>0.37</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−30270.5;                            </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&gt;300000</m:t>
                              </m:r>
                            </m:e>
                          </m:eqArr>
                        </m:e>
                      </m:d>
                    </m:oMath>
                  </m:oMathPara>
                </a14:m>
                <a:endParaRPr lang="en-US" sz="2800"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14" name="object 13">
                <a:extLst>
                  <a:ext uri="{FF2B5EF4-FFF2-40B4-BE49-F238E27FC236}">
                    <a16:creationId xmlns:a16="http://schemas.microsoft.com/office/drawing/2014/main" id="{0EE2FCC1-4065-4495-AB4F-FDA0288553DB}"/>
                  </a:ext>
                </a:extLst>
              </p:cNvPr>
              <p:cNvSpPr txBox="1">
                <a:spLocks noRot="1" noChangeAspect="1" noMove="1" noResize="1" noEditPoints="1" noAdjustHandles="1" noChangeArrowheads="1" noChangeShapeType="1" noTextEdit="1"/>
              </p:cNvSpPr>
              <p:nvPr/>
            </p:nvSpPr>
            <p:spPr>
              <a:xfrm>
                <a:off x="10450834" y="1347691"/>
                <a:ext cx="8243246" cy="622926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2924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 4"/>
          <p:cNvSpPr txBox="1"/>
          <p:nvPr/>
        </p:nvSpPr>
        <p:spPr>
          <a:xfrm>
            <a:off x="775138" y="158857"/>
            <a:ext cx="7236098"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3000" b="0"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hlinkClick r:id="rId2"/>
              </a:rPr>
              <a:t>PreCalculus</a:t>
            </a:r>
            <a:r>
              <a:rPr kumimoji="0" lang="en-US" sz="30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hlinkClick r:id="rId2"/>
              </a:rPr>
              <a:t>: Matrix Application: Cryptology</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object 7"/>
          <p:cNvSpPr/>
          <p:nvPr/>
        </p:nvSpPr>
        <p:spPr>
          <a:xfrm>
            <a:off x="0" y="2669091"/>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75138" y="2861235"/>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191070" y="3863126"/>
            <a:ext cx="17919508" cy="6309548"/>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Students will:</a:t>
            </a:r>
          </a:p>
          <a:p>
            <a:pPr marL="12700" marR="17780" lvl="0">
              <a:lnSpc>
                <a:spcPct val="150000"/>
              </a:lnSpc>
              <a:spcBef>
                <a:spcPts val="100"/>
              </a:spcBef>
            </a:pPr>
            <a:r>
              <a:rPr kumimoji="0" lang="en-US" sz="2500" b="0" i="0" u="none" strike="noStrike" kern="1200" cap="none" spc="-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a:t>
            </a:r>
            <a:r>
              <a:rPr lang="en-US" sz="2500" dirty="0">
                <a:solidFill>
                  <a:srgbClr val="000000"/>
                </a:solidFill>
                <a:latin typeface="Times New Roman" panose="02020603050405020304" pitchFamily="18" charset="0"/>
                <a:cs typeface="Times New Roman" panose="02020603050405020304" pitchFamily="18" charset="0"/>
              </a:rPr>
              <a:t>Encode a secret message.</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(2.) Decode the secret message.</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(3.) Meet one of the learning objectives of the VCCS (Virginia Community College System) standards for:</a:t>
            </a:r>
          </a:p>
          <a:p>
            <a:pPr marL="12700" marR="17780" lvl="0">
              <a:lnSpc>
                <a:spcPct val="150000"/>
              </a:lnSpc>
              <a:spcBef>
                <a:spcPts val="100"/>
              </a:spcBef>
            </a:pP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161: </a:t>
            </a:r>
            <a:r>
              <a:rPr lang="en-US" sz="2500" dirty="0" err="1">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PreCalculus</a:t>
            </a: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 I</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topics in power, polynomial, rational, exponential, and logarithmic functions, and </a:t>
            </a:r>
            <a:r>
              <a:rPr lang="en-US" sz="2500" b="1" i="1" dirty="0">
                <a:solidFill>
                  <a:srgbClr val="000000"/>
                </a:solidFill>
                <a:latin typeface="Times New Roman" panose="02020603050405020304" pitchFamily="18" charset="0"/>
                <a:cs typeface="Times New Roman" panose="02020603050405020304" pitchFamily="18" charset="0"/>
              </a:rPr>
              <a:t>systems of equations</a:t>
            </a:r>
            <a:r>
              <a:rPr lang="en-US" sz="2500" i="1" dirty="0">
                <a:solidFill>
                  <a:srgbClr val="000000"/>
                </a:solidFill>
                <a:latin typeface="Times New Roman" panose="02020603050405020304" pitchFamily="18" charset="0"/>
                <a:cs typeface="Times New Roman" panose="02020603050405020304" pitchFamily="18" charset="0"/>
              </a:rPr>
              <a:t> and inequalities.)</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MTH 165: Finite Math</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topics in </a:t>
            </a:r>
            <a:r>
              <a:rPr lang="en-US" sz="2500" b="1" i="1" dirty="0">
                <a:solidFill>
                  <a:srgbClr val="000000"/>
                </a:solidFill>
                <a:latin typeface="Times New Roman" panose="02020603050405020304" pitchFamily="18" charset="0"/>
                <a:cs typeface="Times New Roman" panose="02020603050405020304" pitchFamily="18" charset="0"/>
              </a:rPr>
              <a:t>systems of equations</a:t>
            </a:r>
            <a:r>
              <a:rPr lang="en-US" sz="2500" i="1" dirty="0">
                <a:solidFill>
                  <a:srgbClr val="000000"/>
                </a:solidFill>
                <a:latin typeface="Times New Roman" panose="02020603050405020304" pitchFamily="18" charset="0"/>
                <a:cs typeface="Times New Roman" panose="02020603050405020304" pitchFamily="18" charset="0"/>
              </a:rPr>
              <a:t>, </a:t>
            </a:r>
            <a:r>
              <a:rPr lang="en-US" sz="2500" b="1" i="1" dirty="0">
                <a:solidFill>
                  <a:srgbClr val="000000"/>
                </a:solidFill>
                <a:latin typeface="Times New Roman" panose="02020603050405020304" pitchFamily="18" charset="0"/>
                <a:cs typeface="Times New Roman" panose="02020603050405020304" pitchFamily="18" charset="0"/>
              </a:rPr>
              <a:t>matrices</a:t>
            </a:r>
            <a:r>
              <a:rPr lang="en-US" sz="2500" i="1" dirty="0">
                <a:solidFill>
                  <a:srgbClr val="000000"/>
                </a:solidFill>
                <a:latin typeface="Times New Roman" panose="02020603050405020304" pitchFamily="18" charset="0"/>
                <a:cs typeface="Times New Roman" panose="02020603050405020304" pitchFamily="18" charset="0"/>
              </a:rPr>
              <a:t>, linear programming, mathematics of finance, counting theory, probability, and Markov Chains.)</a:t>
            </a:r>
            <a:endParaRPr kumimoji="0" lang="en-US" sz="2500" b="0" i="0" u="none" strike="noStrike" kern="1200" cap="none" spc="-5"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object 13">
            <a:extLst>
              <a:ext uri="{FF2B5EF4-FFF2-40B4-BE49-F238E27FC236}">
                <a16:creationId xmlns:a16="http://schemas.microsoft.com/office/drawing/2014/main" id="{96BD0C7E-25C1-4DE9-947B-D95B9141D547}"/>
              </a:ext>
            </a:extLst>
          </p:cNvPr>
          <p:cNvSpPr txBox="1"/>
          <p:nvPr/>
        </p:nvSpPr>
        <p:spPr>
          <a:xfrm>
            <a:off x="286604" y="1200062"/>
            <a:ext cx="18424478" cy="1102994"/>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5"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One of the applications of Matrices is in Cryptology.</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5"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One of the applications of Cryptology is the encoding (encrypting/enciphering) and decoding (decrypting/deciphering) of secret messages</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US" sz="2500" b="0" i="0" u="none" strike="noStrike" kern="1200" cap="none" spc="-5"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44088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 (Continued)</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17919508" cy="8592224"/>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solidFill>
                  <a:srgbClr val="00008B"/>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MTH 167: </a:t>
            </a:r>
            <a:r>
              <a:rPr lang="en-US" sz="2500" dirty="0" err="1">
                <a:solidFill>
                  <a:srgbClr val="00008B"/>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PreCalculus</a:t>
            </a:r>
            <a:r>
              <a:rPr lang="en-US" sz="2500" dirty="0">
                <a:solidFill>
                  <a:srgbClr val="00008B"/>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with Trigonometry</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topics in power, polynomial, rational, exponential, and logarithmic functions, </a:t>
            </a:r>
            <a:r>
              <a:rPr lang="en-US" sz="2500" b="1" i="1" dirty="0">
                <a:solidFill>
                  <a:srgbClr val="000000"/>
                </a:solidFill>
                <a:latin typeface="Times New Roman" panose="02020603050405020304" pitchFamily="18" charset="0"/>
                <a:cs typeface="Times New Roman" panose="02020603050405020304" pitchFamily="18" charset="0"/>
              </a:rPr>
              <a:t>systems of equations</a:t>
            </a:r>
            <a:r>
              <a:rPr lang="en-US" sz="2500" i="1" dirty="0">
                <a:solidFill>
                  <a:srgbClr val="000000"/>
                </a:solidFill>
                <a:latin typeface="Times New Roman" panose="02020603050405020304" pitchFamily="18" charset="0"/>
                <a:cs typeface="Times New Roman" panose="02020603050405020304" pitchFamily="18" charset="0"/>
              </a:rPr>
              <a:t>, trigonometry, and trigonometric applications, including Law of Sines and Cosines, and an introduction to conics.)</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266: Linear Algebra</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(Covers </a:t>
            </a:r>
            <a:r>
              <a:rPr lang="en-US" sz="2500" b="1" i="1" dirty="0">
                <a:solidFill>
                  <a:srgbClr val="000000"/>
                </a:solidFill>
                <a:latin typeface="Times New Roman" panose="02020603050405020304" pitchFamily="18" charset="0"/>
                <a:cs typeface="Times New Roman" panose="02020603050405020304" pitchFamily="18" charset="0"/>
              </a:rPr>
              <a:t>matrices</a:t>
            </a:r>
            <a:r>
              <a:rPr lang="en-US" sz="2500" i="1" dirty="0">
                <a:solidFill>
                  <a:srgbClr val="000000"/>
                </a:solidFill>
                <a:latin typeface="Times New Roman" panose="02020603050405020304" pitchFamily="18" charset="0"/>
                <a:cs typeface="Times New Roman" panose="02020603050405020304" pitchFamily="18" charset="0"/>
              </a:rPr>
              <a:t>, vector spaces, determinants, </a:t>
            </a:r>
            <a:r>
              <a:rPr lang="en-US" sz="2500" b="1" i="1" dirty="0">
                <a:solidFill>
                  <a:srgbClr val="000000"/>
                </a:solidFill>
                <a:latin typeface="Times New Roman" panose="02020603050405020304" pitchFamily="18" charset="0"/>
                <a:cs typeface="Times New Roman" panose="02020603050405020304" pitchFamily="18" charset="0"/>
              </a:rPr>
              <a:t>solutions of systems of linear equations</a:t>
            </a:r>
            <a:r>
              <a:rPr lang="en-US" sz="2500" i="1" dirty="0">
                <a:solidFill>
                  <a:srgbClr val="000000"/>
                </a:solidFill>
                <a:latin typeface="Times New Roman" panose="02020603050405020304" pitchFamily="18" charset="0"/>
                <a:cs typeface="Times New Roman" panose="02020603050405020304" pitchFamily="18" charset="0"/>
              </a:rPr>
              <a:t>, basis and dimension, eigenvalues, and eigenvectors.)</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(4.) Meet the QM (Quality Matters) and USDOE (United States Department of Education) requirements for distance education as regards the provision of RSI (Regular and Substantive Interaction).</a:t>
            </a: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Federal Register: Distance Education and Innovation</a:t>
            </a:r>
            <a:br>
              <a:rPr lang="en-US" sz="2500" dirty="0">
                <a:latin typeface="Times New Roman" panose="02020603050405020304" pitchFamily="18" charset="0"/>
                <a:cs typeface="Times New Roman" panose="02020603050405020304" pitchFamily="18" charset="0"/>
              </a:rPr>
            </a:br>
            <a:r>
              <a:rPr lang="en-US" sz="2500" dirty="0">
                <a:solidFill>
                  <a:srgbClr val="00008B"/>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St. John's University: New Federal Requirements for Distance Education: Regular and Substantive Interaction (RSI)</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Student – Content Interaction: Very high</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Student – Student Interaction: Very high (if the project is a group project)</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Student – Faculty Interaction: High</a:t>
            </a: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316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2 by 2 Matrix</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191068" y="6909810"/>
            <a:ext cx="18656490" cy="3462615"/>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Please complete this sentence.</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lang="en-US" sz="2500" dirty="0">
                <a:solidFill>
                  <a:srgbClr val="000000"/>
                </a:solidFill>
                <a:latin typeface="Times New Roman" panose="02020603050405020304" pitchFamily="18" charset="0"/>
              </a:rPr>
              <a:t>If you ……………………………, the world will be a good place to live.</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The </a:t>
            </a:r>
            <a:r>
              <a:rPr lang="en-US" sz="2500" dirty="0">
                <a:solidFill>
                  <a:srgbClr val="000000"/>
                </a:solidFill>
                <a:latin typeface="Times New Roman" panose="02020603050405020304" pitchFamily="18" charset="0"/>
              </a:rPr>
              <a:t>fill-in message is the encoded message:</a:t>
            </a:r>
          </a:p>
          <a:p>
            <a:pPr marL="469900" marR="17780" lvl="0" indent="-457200" algn="l" defTabSz="457200" rtl="0" eaLnBrk="1" fontAlgn="auto" latinLnBrk="0" hangingPunct="1">
              <a:lnSpc>
                <a:spcPct val="150000"/>
              </a:lnSpc>
              <a:spcBef>
                <a:spcPts val="100"/>
              </a:spcBef>
              <a:spcAft>
                <a:spcPts val="0"/>
              </a:spcAft>
              <a:buClrTx/>
              <a:buSzTx/>
              <a:buFontTx/>
              <a:buAutoNum type="arabicPlain" startAt="49"/>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83		91		25		50		30		33		41		91		28		51		52		17		26		40		33		48		84</a:t>
            </a:r>
          </a:p>
          <a:p>
            <a:pPr marL="12700" marR="17780" lvl="0" algn="l" defTabSz="457200" rtl="0" eaLnBrk="1" fontAlgn="auto" latinLnBrk="0" hangingPunct="1">
              <a:lnSpc>
                <a:spcPct val="150000"/>
              </a:lnSpc>
              <a:spcBef>
                <a:spcPts val="100"/>
              </a:spcBef>
              <a:spcAft>
                <a:spcPts val="0"/>
              </a:spcAft>
              <a:buClrTx/>
              <a:buSzTx/>
              <a:tabLst/>
              <a:defRPr/>
            </a:pPr>
            <a:r>
              <a:rPr lang="en-US" sz="2500" dirty="0">
                <a:solidFill>
                  <a:srgbClr val="000000"/>
                </a:solidFill>
                <a:latin typeface="Times New Roman" panose="02020603050405020304" pitchFamily="18" charset="0"/>
              </a:rPr>
              <a:t>The message is encoded with the encoding matrix:</a:t>
            </a:r>
          </a:p>
          <a:p>
            <a:pPr marL="12700" marR="17780" lvl="0" algn="l" defTabSz="457200" rtl="0" eaLnBrk="1" fontAlgn="auto" latinLnBrk="0" hangingPunct="1">
              <a:lnSpc>
                <a:spcPct val="150000"/>
              </a:lnSpc>
              <a:spcBef>
                <a:spcPts val="100"/>
              </a:spcBef>
              <a:spcAft>
                <a:spcPts val="0"/>
              </a:spcAft>
              <a:buClrTx/>
              <a:buSzTx/>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1		2		2		1		1		3		1		2		1</a:t>
            </a:r>
          </a:p>
        </p:txBody>
      </p:sp>
      <p:sp>
        <p:nvSpPr>
          <p:cNvPr id="6" name="object 7">
            <a:extLst>
              <a:ext uri="{FF2B5EF4-FFF2-40B4-BE49-F238E27FC236}">
                <a16:creationId xmlns:a16="http://schemas.microsoft.com/office/drawing/2014/main" id="{965BB013-EAB7-4F0D-8933-E34BE968F7AE}"/>
              </a:ext>
            </a:extLst>
          </p:cNvPr>
          <p:cNvSpPr/>
          <p:nvPr/>
        </p:nvSpPr>
        <p:spPr>
          <a:xfrm>
            <a:off x="0" y="588966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object 9">
            <a:extLst>
              <a:ext uri="{FF2B5EF4-FFF2-40B4-BE49-F238E27FC236}">
                <a16:creationId xmlns:a16="http://schemas.microsoft.com/office/drawing/2014/main" id="{AC8C7F51-8863-4C2C-A6C7-56C4338FB416}"/>
              </a:ext>
            </a:extLst>
          </p:cNvPr>
          <p:cNvSpPr txBox="1"/>
          <p:nvPr/>
        </p:nvSpPr>
        <p:spPr>
          <a:xfrm>
            <a:off x="711417" y="6081810"/>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3 by 3 Matrix</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4" name="object 13">
            <a:extLst>
              <a:ext uri="{FF2B5EF4-FFF2-40B4-BE49-F238E27FC236}">
                <a16:creationId xmlns:a16="http://schemas.microsoft.com/office/drawing/2014/main" id="{294E754D-6841-4D5F-BCFC-BBC1299C20FD}"/>
              </a:ext>
            </a:extLst>
          </p:cNvPr>
          <p:cNvSpPr txBox="1"/>
          <p:nvPr/>
        </p:nvSpPr>
        <p:spPr>
          <a:xfrm>
            <a:off x="191068" y="939477"/>
            <a:ext cx="10440538" cy="4642425"/>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sng"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Given</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A scenario between Samuel and his Mother.</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lang="en-US" sz="2500" b="1" dirty="0">
                <a:solidFill>
                  <a:srgbClr val="000000"/>
                </a:solidFill>
                <a:latin typeface="Times New Roman" panose="02020603050405020304" pitchFamily="18" charset="0"/>
              </a:rPr>
              <a:t>Mother</a:t>
            </a:r>
            <a:r>
              <a:rPr lang="en-US" sz="2500" dirty="0">
                <a:solidFill>
                  <a:srgbClr val="000000"/>
                </a:solidFill>
                <a:latin typeface="Times New Roman" panose="02020603050405020304" pitchFamily="18" charset="0"/>
              </a:rPr>
              <a:t>: Samuel my son, what did you learn in church today?</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Samuel</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Mother, the priest said something very important.</a:t>
            </a:r>
          </a:p>
          <a:p>
            <a:pPr marL="12700" marR="17780" lvl="0" indent="0" algn="l" defTabSz="457200" rtl="0" eaLnBrk="1" fontAlgn="auto" latinLnBrk="0" hangingPunct="1">
              <a:lnSpc>
                <a:spcPct val="150000"/>
              </a:lnSpc>
              <a:spcBef>
                <a:spcPts val="100"/>
              </a:spcBef>
              <a:spcAft>
                <a:spcPts val="0"/>
              </a:spcAft>
              <a:buClrTx/>
              <a:buSzTx/>
              <a:buFontTx/>
              <a:buNone/>
              <a:tabLst/>
              <a:defRPr/>
            </a:pPr>
            <a:r>
              <a:rPr lang="en-US" sz="2500" dirty="0">
                <a:solidFill>
                  <a:srgbClr val="000000"/>
                </a:solidFill>
                <a:latin typeface="Times New Roman" panose="02020603050405020304" pitchFamily="18" charset="0"/>
              </a:rPr>
              <a:t>He told us to always …………………………</a:t>
            </a:r>
          </a:p>
          <a:p>
            <a:pPr marL="469900" marR="17780" lvl="0" indent="-457200" algn="l" defTabSz="457200" rtl="0" eaLnBrk="1" fontAlgn="auto" latinLnBrk="0" hangingPunct="1">
              <a:lnSpc>
                <a:spcPct val="150000"/>
              </a:lnSpc>
              <a:spcBef>
                <a:spcPts val="100"/>
              </a:spcBef>
              <a:spcAft>
                <a:spcPts val="0"/>
              </a:spcAft>
              <a:buClrTx/>
              <a:buSzTx/>
              <a:buFontTx/>
              <a:buAutoNum type="arabicPlain" startAt="124"/>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      48     47	 16		55		22		80		29		20		8</a:t>
            </a:r>
          </a:p>
          <a:p>
            <a:pPr marL="12700" marR="17780" lvl="0" algn="l" defTabSz="457200" rtl="0" eaLnBrk="1" fontAlgn="auto" latinLnBrk="0" hangingPunct="1">
              <a:lnSpc>
                <a:spcPct val="150000"/>
              </a:lnSpc>
              <a:spcBef>
                <a:spcPts val="100"/>
              </a:spcBef>
              <a:spcAft>
                <a:spcPts val="0"/>
              </a:spcAft>
              <a:buClrTx/>
              <a:buSzTx/>
              <a:tabLst/>
              <a:defRPr/>
            </a:pPr>
            <a:r>
              <a:rPr lang="en-US" sz="2500" dirty="0">
                <a:solidFill>
                  <a:srgbClr val="000000"/>
                </a:solidFill>
                <a:latin typeface="Times New Roman" panose="02020603050405020304" pitchFamily="18" charset="0"/>
              </a:rPr>
              <a:t>His message is encoded with the encoding matrix:  </a:t>
            </a:r>
          </a:p>
          <a:p>
            <a:pPr marL="469900" marR="17780" lvl="0" indent="-457200" algn="l" defTabSz="457200" rtl="0" eaLnBrk="1" fontAlgn="auto" latinLnBrk="0" hangingPunct="1">
              <a:lnSpc>
                <a:spcPct val="150000"/>
              </a:lnSpc>
              <a:spcBef>
                <a:spcPts val="100"/>
              </a:spcBef>
              <a:spcAft>
                <a:spcPts val="0"/>
              </a:spcAft>
              <a:buClrTx/>
              <a:buSzTx/>
              <a:buAutoNum type="arabicPlain" startAt="5"/>
              <a:tabLst/>
              <a:defRPr/>
            </a:pPr>
            <a:r>
              <a:rPr lang="en-US" sz="2500" dirty="0">
                <a:solidFill>
                  <a:srgbClr val="000000"/>
                </a:solidFill>
                <a:latin typeface="Times New Roman" panose="02020603050405020304" pitchFamily="18" charset="0"/>
              </a:rPr>
              <a:t>2	3	1</a:t>
            </a:r>
          </a:p>
          <a:p>
            <a:pPr marL="12700" marR="17780" lvl="0" algn="l" defTabSz="457200" rtl="0" eaLnBrk="1" fontAlgn="auto" latinLnBrk="0" hangingPunct="1">
              <a:lnSpc>
                <a:spcPct val="150000"/>
              </a:lnSpc>
              <a:spcBef>
                <a:spcPts val="100"/>
              </a:spcBef>
              <a:spcAft>
                <a:spcPts val="0"/>
              </a:spcAft>
              <a:buClrTx/>
              <a:buSzTx/>
              <a:tabLst/>
              <a:defRPr/>
            </a:pPr>
            <a:r>
              <a:rPr kumimoji="0" lang="en-US" sz="25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If you were the mother, and your son wrote this to you, what would you do? </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sym typeface="Wingdings" panose="05000000000000000000" pitchFamily="2" charset="2"/>
              </a:rPr>
              <a:t></a:t>
            </a: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19318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Cipher Key</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1" name="object 7">
            <a:extLst>
              <a:ext uri="{FF2B5EF4-FFF2-40B4-BE49-F238E27FC236}">
                <a16:creationId xmlns:a16="http://schemas.microsoft.com/office/drawing/2014/main" id="{E092B991-25A7-4DE2-A85B-7066443ADCA5}"/>
              </a:ext>
            </a:extLst>
          </p:cNvPr>
          <p:cNvSpPr/>
          <p:nvPr/>
        </p:nvSpPr>
        <p:spPr>
          <a:xfrm>
            <a:off x="-2" y="983752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bject 9">
            <a:extLst>
              <a:ext uri="{FF2B5EF4-FFF2-40B4-BE49-F238E27FC236}">
                <a16:creationId xmlns:a16="http://schemas.microsoft.com/office/drawing/2014/main" id="{01BC7A96-DC6A-4A82-BEA4-D4E0D1D6D98E}"/>
              </a:ext>
            </a:extLst>
          </p:cNvPr>
          <p:cNvSpPr txBox="1"/>
          <p:nvPr/>
        </p:nvSpPr>
        <p:spPr>
          <a:xfrm>
            <a:off x="454923" y="10029670"/>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hlinkClick r:id="rId2"/>
              </a:rPr>
              <a:t>Students Projects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a:extLst>
              <a:ext uri="{FF2B5EF4-FFF2-40B4-BE49-F238E27FC236}">
                <a16:creationId xmlns:a16="http://schemas.microsoft.com/office/drawing/2014/main" id="{59B11076-83B0-41CB-8910-5DB9810B4D01}"/>
              </a:ext>
            </a:extLst>
          </p:cNvPr>
          <p:cNvPicPr>
            <a:picLocks noChangeAspect="1"/>
          </p:cNvPicPr>
          <p:nvPr/>
        </p:nvPicPr>
        <p:blipFill>
          <a:blip r:embed="rId3"/>
          <a:stretch>
            <a:fillRect/>
          </a:stretch>
        </p:blipFill>
        <p:spPr>
          <a:xfrm>
            <a:off x="923131" y="1146175"/>
            <a:ext cx="17164050" cy="8401050"/>
          </a:xfrm>
          <a:prstGeom prst="rect">
            <a:avLst/>
          </a:prstGeom>
        </p:spPr>
      </p:pic>
    </p:spTree>
    <p:extLst>
      <p:ext uri="{BB962C8B-B14F-4D97-AF65-F5344CB8AC3E}">
        <p14:creationId xmlns:p14="http://schemas.microsoft.com/office/powerpoint/2010/main" val="1085470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DEAF6CC-8A52-4857-8B04-619F92B05F6D}"/>
              </a:ext>
            </a:extLst>
          </p:cNvPr>
          <p:cNvSpPr/>
          <p:nvPr/>
        </p:nvSpPr>
        <p:spPr>
          <a:xfrm>
            <a:off x="0" y="-13332"/>
            <a:ext cx="5542756"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object 2"/>
          <p:cNvSpPr/>
          <p:nvPr/>
        </p:nvSpPr>
        <p:spPr>
          <a:xfrm>
            <a:off x="4770009" y="-13661"/>
            <a:ext cx="4214885" cy="828000"/>
          </a:xfrm>
          <a:custGeom>
            <a:avLst/>
            <a:gdLst/>
            <a:ahLst/>
            <a:cxnLst/>
            <a:rect l="l" t="t" r="r" b="b"/>
            <a:pathLst>
              <a:path w="2389505" h="437514">
                <a:moveTo>
                  <a:pt x="2170722" y="0"/>
                </a:moveTo>
                <a:lnTo>
                  <a:pt x="0" y="0"/>
                </a:lnTo>
                <a:lnTo>
                  <a:pt x="0" y="437153"/>
                </a:lnTo>
                <a:lnTo>
                  <a:pt x="2170722" y="437153"/>
                </a:lnTo>
                <a:lnTo>
                  <a:pt x="2220839" y="431380"/>
                </a:lnTo>
                <a:lnTo>
                  <a:pt x="2266846" y="414936"/>
                </a:lnTo>
                <a:lnTo>
                  <a:pt x="2307430" y="389134"/>
                </a:lnTo>
                <a:lnTo>
                  <a:pt x="2341280" y="355285"/>
                </a:lnTo>
                <a:lnTo>
                  <a:pt x="2367082" y="314701"/>
                </a:lnTo>
                <a:lnTo>
                  <a:pt x="2383526" y="268694"/>
                </a:lnTo>
                <a:lnTo>
                  <a:pt x="2389299" y="218577"/>
                </a:lnTo>
                <a:lnTo>
                  <a:pt x="2383526" y="168459"/>
                </a:lnTo>
                <a:lnTo>
                  <a:pt x="2367082" y="122452"/>
                </a:lnTo>
                <a:lnTo>
                  <a:pt x="2341280" y="81868"/>
                </a:lnTo>
                <a:lnTo>
                  <a:pt x="2307430" y="48018"/>
                </a:lnTo>
                <a:lnTo>
                  <a:pt x="2266846" y="22216"/>
                </a:lnTo>
                <a:lnTo>
                  <a:pt x="2220839" y="5772"/>
                </a:lnTo>
                <a:lnTo>
                  <a:pt x="2170722"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 4"/>
          <p:cNvSpPr txBox="1"/>
          <p:nvPr/>
        </p:nvSpPr>
        <p:spPr>
          <a:xfrm>
            <a:off x="775137" y="158857"/>
            <a:ext cx="7413519" cy="474489"/>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hlinkClick r:id="rId2"/>
              </a:rPr>
              <a:t>Statistics: Inferential Statistics</a:t>
            </a:r>
            <a:endParaRPr kumimoji="0" lang="en-US" sz="3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object 7"/>
          <p:cNvSpPr/>
          <p:nvPr/>
        </p:nvSpPr>
        <p:spPr>
          <a:xfrm>
            <a:off x="-1" y="84713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75138" y="1039280"/>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327546" y="1867280"/>
            <a:ext cx="18356239" cy="8630696"/>
          </a:xfrm>
          <a:prstGeom prst="rect">
            <a:avLst/>
          </a:prstGeom>
        </p:spPr>
        <p:txBody>
          <a:bodyPr vert="horz" wrap="square" lIns="0" tIns="5080" rIns="0" bIns="0" rtlCol="0">
            <a:spAutoFit/>
          </a:bodyPr>
          <a:lstStyle/>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The </a:t>
            </a:r>
            <a:r>
              <a:rPr kumimoji="0" lang="en-US" sz="25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Inferential Statistics</a:t>
            </a: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project is designed to:</a:t>
            </a:r>
          </a:p>
          <a:p>
            <a:pPr marL="12700" marR="17780" lvl="0">
              <a:lnSpc>
                <a:spcPct val="150000"/>
              </a:lnSpc>
              <a:spcBef>
                <a:spcPts val="100"/>
              </a:spcBef>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(1.) </a:t>
            </a:r>
            <a:r>
              <a:rPr lang="en-US" sz="2500" dirty="0">
                <a:solidFill>
                  <a:srgbClr val="000000"/>
                </a:solidFill>
                <a:latin typeface="Times New Roman" panose="02020603050405020304" pitchFamily="18" charset="0"/>
                <a:cs typeface="Times New Roman" panose="02020603050405020304" pitchFamily="18" charset="0"/>
              </a:rPr>
              <a:t>Meet the requirements of the VCCS detailed course outline for MTH 245</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700" marR="17780" lvl="0">
              <a:lnSpc>
                <a:spcPct val="150000"/>
              </a:lnSpc>
              <a:spcBef>
                <a:spcPts val="100"/>
              </a:spcBef>
            </a:pP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endPar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2700" marR="17780" lvl="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(2.) Meet one of the learning objectives of the VCCS (Virginia Community College System) standards for:</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(a.) </a:t>
            </a:r>
            <a:r>
              <a:rPr lang="en-US" sz="2500" dirty="0">
                <a:solidFill>
                  <a:srgbClr val="00008B"/>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MTH 155: Statistical Reasoning</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elementary statistical methods and concepts including visual data presentation, descriptive statistics, probability, </a:t>
            </a:r>
            <a:r>
              <a:rPr lang="en-US" sz="2500" b="1" i="1" dirty="0">
                <a:solidFill>
                  <a:srgbClr val="000000"/>
                </a:solidFill>
                <a:latin typeface="Times New Roman" panose="02020603050405020304" pitchFamily="18" charset="0"/>
                <a:cs typeface="Times New Roman" panose="02020603050405020304" pitchFamily="18" charset="0"/>
              </a:rPr>
              <a:t>estimation</a:t>
            </a:r>
            <a:r>
              <a:rPr lang="en-US" sz="2500" i="1" dirty="0">
                <a:solidFill>
                  <a:srgbClr val="000000"/>
                </a:solidFill>
                <a:latin typeface="Times New Roman" panose="02020603050405020304" pitchFamily="18" charset="0"/>
                <a:cs typeface="Times New Roman" panose="02020603050405020304" pitchFamily="18" charset="0"/>
              </a:rPr>
              <a:t>, </a:t>
            </a:r>
            <a:r>
              <a:rPr lang="en-US" sz="2500" b="1" i="1" dirty="0">
                <a:solidFill>
                  <a:srgbClr val="000000"/>
                </a:solidFill>
                <a:latin typeface="Times New Roman" panose="02020603050405020304" pitchFamily="18" charset="0"/>
                <a:cs typeface="Times New Roman" panose="02020603050405020304" pitchFamily="18" charset="0"/>
              </a:rPr>
              <a:t>hypothesis testing</a:t>
            </a:r>
            <a:r>
              <a:rPr lang="en-US" sz="2500" i="1" dirty="0">
                <a:solidFill>
                  <a:srgbClr val="000000"/>
                </a:solidFill>
                <a:latin typeface="Times New Roman" panose="02020603050405020304" pitchFamily="18" charset="0"/>
                <a:cs typeface="Times New Roman" panose="02020603050405020304" pitchFamily="18" charset="0"/>
              </a:rPr>
              <a:t>, correlation and linear regression.).</a:t>
            </a:r>
            <a:br>
              <a:rPr lang="en-US" sz="2500" dirty="0">
                <a:latin typeface="Times New Roman" panose="02020603050405020304" pitchFamily="18" charset="0"/>
                <a:cs typeface="Times New Roman" panose="02020603050405020304" pitchFamily="18" charset="0"/>
              </a:rPr>
            </a:b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(b.) </a:t>
            </a:r>
            <a:r>
              <a:rPr lang="en-US" sz="2500" dirty="0">
                <a:solidFill>
                  <a:srgbClr val="00008B"/>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MTH 245: Statistics I</a:t>
            </a:r>
            <a:br>
              <a:rPr lang="en-US" sz="2500" dirty="0">
                <a:latin typeface="Times New Roman" panose="02020603050405020304" pitchFamily="18" charset="0"/>
                <a:cs typeface="Times New Roman" panose="02020603050405020304" pitchFamily="18" charset="0"/>
              </a:rPr>
            </a:br>
            <a:r>
              <a:rPr lang="en-US" sz="2500" i="1" dirty="0">
                <a:solidFill>
                  <a:srgbClr val="000000"/>
                </a:solidFill>
                <a:latin typeface="Times New Roman" panose="02020603050405020304" pitchFamily="18" charset="0"/>
                <a:cs typeface="Times New Roman" panose="02020603050405020304" pitchFamily="18" charset="0"/>
              </a:rPr>
              <a:t>(Presents an overview of statistics, including descriptive statistics, elementary probability, probability distributions, </a:t>
            </a:r>
            <a:r>
              <a:rPr lang="en-US" sz="2500" b="1" i="1" dirty="0">
                <a:solidFill>
                  <a:srgbClr val="000000"/>
                </a:solidFill>
                <a:latin typeface="Times New Roman" panose="02020603050405020304" pitchFamily="18" charset="0"/>
                <a:cs typeface="Times New Roman" panose="02020603050405020304" pitchFamily="18" charset="0"/>
              </a:rPr>
              <a:t>estimation</a:t>
            </a:r>
            <a:r>
              <a:rPr lang="en-US" sz="2500" i="1" dirty="0">
                <a:solidFill>
                  <a:srgbClr val="000000"/>
                </a:solidFill>
                <a:latin typeface="Times New Roman" panose="02020603050405020304" pitchFamily="18" charset="0"/>
                <a:cs typeface="Times New Roman" panose="02020603050405020304" pitchFamily="18" charset="0"/>
              </a:rPr>
              <a:t>, </a:t>
            </a:r>
            <a:r>
              <a:rPr lang="en-US" sz="2500" b="1" i="1" dirty="0">
                <a:solidFill>
                  <a:srgbClr val="000000"/>
                </a:solidFill>
                <a:latin typeface="Times New Roman" panose="02020603050405020304" pitchFamily="18" charset="0"/>
                <a:cs typeface="Times New Roman" panose="02020603050405020304" pitchFamily="18" charset="0"/>
              </a:rPr>
              <a:t>hypothesis testing</a:t>
            </a:r>
            <a:r>
              <a:rPr lang="en-US" sz="2500" i="1" dirty="0">
                <a:solidFill>
                  <a:srgbClr val="000000"/>
                </a:solidFill>
                <a:latin typeface="Times New Roman" panose="02020603050405020304" pitchFamily="18" charset="0"/>
                <a:cs typeface="Times New Roman" panose="02020603050405020304" pitchFamily="18" charset="0"/>
              </a:rPr>
              <a:t>, correlation, and linear regression.).</a:t>
            </a:r>
            <a:endParaRPr kumimoji="0" lang="en-US" sz="2500" b="0" i="1" u="none" strike="noStrike" kern="1200" cap="none" spc="-5"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D03365D-6A74-4565-A335-744CD29E8F57}"/>
              </a:ext>
            </a:extLst>
          </p:cNvPr>
          <p:cNvPicPr>
            <a:picLocks noChangeAspect="1"/>
          </p:cNvPicPr>
          <p:nvPr/>
        </p:nvPicPr>
        <p:blipFill>
          <a:blip r:embed="rId5"/>
          <a:stretch>
            <a:fillRect/>
          </a:stretch>
        </p:blipFill>
        <p:spPr>
          <a:xfrm>
            <a:off x="326528" y="3279775"/>
            <a:ext cx="16697325" cy="2206625"/>
          </a:xfrm>
          <a:prstGeom prst="rect">
            <a:avLst/>
          </a:prstGeom>
        </p:spPr>
      </p:pic>
    </p:spTree>
    <p:extLst>
      <p:ext uri="{BB962C8B-B14F-4D97-AF65-F5344CB8AC3E}">
        <p14:creationId xmlns:p14="http://schemas.microsoft.com/office/powerpoint/2010/main" val="3621173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8" y="192144"/>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Objectives (Continued)</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286604" y="1020144"/>
            <a:ext cx="17919508" cy="6517297"/>
          </a:xfrm>
          <a:prstGeom prst="rect">
            <a:avLst/>
          </a:prstGeom>
        </p:spPr>
        <p:txBody>
          <a:bodyPr vert="horz" wrap="square" lIns="0" tIns="5080" rIns="0" bIns="0" rtlCol="0">
            <a:spAutoFit/>
          </a:bodyPr>
          <a:lstStyle/>
          <a:p>
            <a:pPr marL="12700" marR="17780" lvl="0">
              <a:lnSpc>
                <a:spcPct val="150000"/>
              </a:lnSpc>
              <a:spcBef>
                <a:spcPts val="100"/>
              </a:spcBef>
            </a:pPr>
            <a:r>
              <a:rPr lang="en-US" sz="2500" dirty="0">
                <a:solidFill>
                  <a:srgbClr val="000000"/>
                </a:solidFill>
                <a:latin typeface="Times New Roman" panose="02020603050405020304" pitchFamily="18" charset="0"/>
                <a:cs typeface="Times New Roman" panose="02020603050405020304" pitchFamily="18" charset="0"/>
              </a:rPr>
              <a:t>(3.) Draw statistical inferences from a sample onto a population. This is achieved by any of these tasks:</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(a.) Estimate a population parameter using a sample statistic.</a:t>
            </a:r>
            <a:br>
              <a:rPr lang="en-US" sz="2500" dirty="0">
                <a:latin typeface="Times New Roman" panose="02020603050405020304" pitchFamily="18" charset="0"/>
                <a:cs typeface="Times New Roman" panose="02020603050405020304" pitchFamily="18" charset="0"/>
              </a:rPr>
            </a:br>
            <a:r>
              <a:rPr lang="en-US" sz="2500" dirty="0">
                <a:solidFill>
                  <a:srgbClr val="000000"/>
                </a:solidFill>
                <a:latin typeface="Times New Roman" panose="02020603050405020304" pitchFamily="18" charset="0"/>
                <a:cs typeface="Times New Roman" panose="02020603050405020304" pitchFamily="18" charset="0"/>
              </a:rPr>
              <a:t>(b.) Conduct a hypothesis test of a population parameter using a sample statistic.</a:t>
            </a:r>
          </a:p>
          <a:p>
            <a:pPr marL="12700" marR="17780" lvl="0">
              <a:lnSpc>
                <a:spcPct val="150000"/>
              </a:lnSpc>
              <a:spcBef>
                <a:spcPts val="100"/>
              </a:spcBef>
            </a:pP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12700" marR="17780" lvl="0" indent="0" algn="l" defTabSz="457200" rtl="0" eaLnBrk="1" fontAlgn="auto" latinLnBrk="0" hangingPunct="1">
              <a:lnSpc>
                <a:spcPct val="150000"/>
              </a:lnSpc>
              <a:spcBef>
                <a:spcPts val="100"/>
              </a:spcBef>
              <a:spcAft>
                <a:spcPts val="0"/>
              </a:spcAft>
              <a:buClrTx/>
              <a:buSzTx/>
              <a:buFontTx/>
              <a:buNone/>
              <a:tabLst/>
              <a:defRPr/>
            </a:pP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(4.) Meet the QM (Quality Matters) and USDOE (United States Department of Education) requirements for distance education as regards the provision of RSI (Regular and Substantive Interaction).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Federal Register: Distance Education and Innovation</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8B"/>
                </a:solidFill>
                <a:effectLst/>
                <a:uLnTx/>
                <a:uFillTx/>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St. John's University: New Federal Requirements for Distance Education: Regular and Substantive Interaction (RSI)</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Content Interaction: Very high</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Student Interaction: Flexible</a:t>
            </a:r>
            <a:br>
              <a:rPr kumimoji="0" lang="en-US" sz="2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Student – Faculty Interaction: </a:t>
            </a:r>
            <a:r>
              <a:rPr lang="en-US" sz="2500" dirty="0">
                <a:solidFill>
                  <a:srgbClr val="000000"/>
                </a:solidFill>
                <a:latin typeface="Times New Roman" panose="02020603050405020304" pitchFamily="18" charset="0"/>
                <a:cs typeface="Times New Roman" panose="02020603050405020304" pitchFamily="18" charset="0"/>
              </a:rPr>
              <a:t>Very High</a:t>
            </a:r>
            <a:endParaRPr kumimoji="0" lang="en-US" sz="25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 name="object 7">
            <a:extLst>
              <a:ext uri="{FF2B5EF4-FFF2-40B4-BE49-F238E27FC236}">
                <a16:creationId xmlns:a16="http://schemas.microsoft.com/office/drawing/2014/main" id="{FEFC3DB0-FAF6-4801-B38D-7AAFEE170421}"/>
              </a:ext>
            </a:extLst>
          </p:cNvPr>
          <p:cNvSpPr/>
          <p:nvPr/>
        </p:nvSpPr>
        <p:spPr>
          <a:xfrm>
            <a:off x="-2" y="9837526"/>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chemeClr val="accent2">
              <a:lumMod val="20000"/>
              <a:lumOff val="80000"/>
            </a:scheme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bject 9">
            <a:extLst>
              <a:ext uri="{FF2B5EF4-FFF2-40B4-BE49-F238E27FC236}">
                <a16:creationId xmlns:a16="http://schemas.microsoft.com/office/drawing/2014/main" id="{A86F0CA1-E3A3-4A7B-83A3-6E3917DA00B2}"/>
              </a:ext>
            </a:extLst>
          </p:cNvPr>
          <p:cNvSpPr txBox="1"/>
          <p:nvPr/>
        </p:nvSpPr>
        <p:spPr>
          <a:xfrm>
            <a:off x="454923" y="10029670"/>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hlinkClick r:id="rId4"/>
              </a:rPr>
              <a:t>Students Projects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49353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7017"/>
            <a:ext cx="6190456" cy="828000"/>
          </a:xfrm>
          <a:custGeom>
            <a:avLst/>
            <a:gdLst/>
            <a:ahLst/>
            <a:cxnLst/>
            <a:rect l="l" t="t" r="r" b="b"/>
            <a:pathLst>
              <a:path w="4255135" h="437514">
                <a:moveTo>
                  <a:pt x="4036433" y="0"/>
                </a:moveTo>
                <a:lnTo>
                  <a:pt x="0" y="0"/>
                </a:lnTo>
                <a:lnTo>
                  <a:pt x="0" y="437154"/>
                </a:lnTo>
                <a:lnTo>
                  <a:pt x="4036433" y="437154"/>
                </a:lnTo>
                <a:lnTo>
                  <a:pt x="4086551" y="431381"/>
                </a:lnTo>
                <a:lnTo>
                  <a:pt x="4132558" y="414937"/>
                </a:lnTo>
                <a:lnTo>
                  <a:pt x="4173142" y="389135"/>
                </a:lnTo>
                <a:lnTo>
                  <a:pt x="4206991" y="355285"/>
                </a:lnTo>
                <a:lnTo>
                  <a:pt x="4232794" y="314701"/>
                </a:lnTo>
                <a:lnTo>
                  <a:pt x="4249237" y="268694"/>
                </a:lnTo>
                <a:lnTo>
                  <a:pt x="4255010" y="218577"/>
                </a:lnTo>
                <a:lnTo>
                  <a:pt x="4249237" y="168459"/>
                </a:lnTo>
                <a:lnTo>
                  <a:pt x="4232794" y="122452"/>
                </a:lnTo>
                <a:lnTo>
                  <a:pt x="4206991" y="81868"/>
                </a:lnTo>
                <a:lnTo>
                  <a:pt x="4173142" y="48019"/>
                </a:lnTo>
                <a:lnTo>
                  <a:pt x="4132558" y="22216"/>
                </a:lnTo>
                <a:lnTo>
                  <a:pt x="4086551" y="5772"/>
                </a:lnTo>
                <a:lnTo>
                  <a:pt x="4036433" y="0"/>
                </a:lnTo>
                <a:close/>
              </a:path>
            </a:pathLst>
          </a:custGeom>
          <a:solidFill>
            <a:srgbClr val="00A0F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711417" y="229491"/>
            <a:ext cx="4767619" cy="443711"/>
          </a:xfrm>
          <a:prstGeom prst="rect">
            <a:avLst/>
          </a:prstGeom>
        </p:spPr>
        <p:txBody>
          <a:bodyPr vert="horz" wrap="square" lIns="0" tIns="12700" rIns="0" bIns="0" rtlCol="0">
            <a:spAutoFit/>
          </a:bodyPr>
          <a:lstStyle/>
          <a:p>
            <a:pPr marL="12700" marR="0" lvl="0" indent="0" algn="ctr" defTabSz="457200" rtl="0" eaLnBrk="1" fontAlgn="auto" latinLnBrk="0" hangingPunct="1">
              <a:lnSpc>
                <a:spcPct val="100000"/>
              </a:lnSpc>
              <a:spcBef>
                <a:spcPts val="10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Source Sans Pro Light"/>
              </a:rPr>
              <a:t> </a:t>
            </a:r>
            <a:r>
              <a:rPr lang="en-US" sz="2800" dirty="0">
                <a:solidFill>
                  <a:srgbClr val="FFFFFF"/>
                </a:solidFill>
                <a:latin typeface="Times New Roman" panose="02020603050405020304" pitchFamily="18" charset="0"/>
                <a:cs typeface="Times New Roman" panose="02020603050405020304" pitchFamily="18" charset="0"/>
              </a:rPr>
              <a:t>References</a:t>
            </a:r>
            <a:endParaRPr kumimoji="0" lang="cs-CZ"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object 13"/>
          <p:cNvSpPr txBox="1"/>
          <p:nvPr/>
        </p:nvSpPr>
        <p:spPr>
          <a:xfrm>
            <a:off x="327547" y="923584"/>
            <a:ext cx="18342590" cy="9091720"/>
          </a:xfrm>
          <a:prstGeom prst="rect">
            <a:avLst/>
          </a:prstGeom>
        </p:spPr>
        <p:txBody>
          <a:bodyPr vert="horz" wrap="square" lIns="0" tIns="5080" rIns="0" bIns="0" rtlCol="0">
            <a:spAutoFit/>
          </a:bodyPr>
          <a:lstStyle/>
          <a:p>
            <a:pPr marL="12700" marR="17780" lvl="0">
              <a:lnSpc>
                <a:spcPct val="150000"/>
              </a:lnSpc>
              <a:spcBef>
                <a:spcPts val="100"/>
              </a:spcBef>
            </a:pPr>
            <a:r>
              <a:rPr lang="en-US" sz="2800" dirty="0">
                <a:solidFill>
                  <a:srgbClr val="000000"/>
                </a:solidFill>
                <a:latin typeface="Times New Roman" panose="02020603050405020304" pitchFamily="18" charset="0"/>
              </a:rPr>
              <a:t>Chukwuemeka, S.D (2024, January 30). </a:t>
            </a:r>
            <a:r>
              <a:rPr lang="en-US" sz="2800" i="1" dirty="0">
                <a:solidFill>
                  <a:srgbClr val="000000"/>
                </a:solidFill>
                <a:latin typeface="Times New Roman" panose="02020603050405020304" pitchFamily="18" charset="0"/>
              </a:rPr>
              <a:t>Samuel Chukwuemeka Tutorials: Math, Science, and Technology.</a:t>
            </a:r>
            <a:r>
              <a:rPr lang="en-US" sz="2800" dirty="0">
                <a:solidFill>
                  <a:srgbClr val="000000"/>
                </a:solidFill>
                <a:latin typeface="Times New Roman" panose="02020603050405020304" pitchFamily="18" charset="0"/>
              </a:rPr>
              <a:t> Retrieved from </a:t>
            </a:r>
            <a:r>
              <a:rPr lang="en-US" sz="2800" dirty="0">
                <a:solidFill>
                  <a:srgbClr val="000000"/>
                </a:solidFill>
                <a:latin typeface="Times New Roman" panose="02020603050405020304" pitchFamily="18" charset="0"/>
                <a:hlinkClick r:id="rId2"/>
              </a:rPr>
              <a:t>https://conferencepresentations.appspot.com/</a:t>
            </a:r>
            <a:endParaRPr lang="en-US" sz="2800" dirty="0">
              <a:solidFill>
                <a:srgbClr val="000000"/>
              </a:solidFill>
              <a:latin typeface="Times New Roman" panose="02020603050405020304" pitchFamily="18" charset="0"/>
            </a:endParaRPr>
          </a:p>
          <a:p>
            <a:pPr marL="12700" marR="17780">
              <a:lnSpc>
                <a:spcPct val="150000"/>
              </a:lnSpc>
              <a:spcBef>
                <a:spcPts val="100"/>
              </a:spcBef>
            </a:pPr>
            <a:endParaRPr lang="en-US" sz="2800" dirty="0">
              <a:solidFill>
                <a:srgbClr val="000000"/>
              </a:solidFill>
              <a:latin typeface="Times New Roman" panose="02020603050405020304" pitchFamily="18" charset="0"/>
            </a:endParaRPr>
          </a:p>
          <a:p>
            <a:pPr marL="12700" marR="17780">
              <a:lnSpc>
                <a:spcPct val="150000"/>
              </a:lnSpc>
              <a:spcBef>
                <a:spcPts val="100"/>
              </a:spcBef>
            </a:pPr>
            <a:r>
              <a:rPr lang="en-US" sz="2800" dirty="0">
                <a:solidFill>
                  <a:srgbClr val="000000"/>
                </a:solidFill>
                <a:latin typeface="Times New Roman" panose="02020603050405020304" pitchFamily="18" charset="0"/>
              </a:rPr>
              <a:t>Alabama Power. (n.d.). Alabama Power. Retrieved from </a:t>
            </a:r>
            <a:r>
              <a:rPr lang="en-US" sz="2800" dirty="0">
                <a:solidFill>
                  <a:srgbClr val="000000"/>
                </a:solidFill>
                <a:latin typeface="Times New Roman" panose="02020603050405020304" pitchFamily="18" charset="0"/>
                <a:hlinkClick r:id="rId3"/>
              </a:rPr>
              <a:t>https://www.alabamapower.com/content/dam/alabama-power/pdfs-docs/Rates/FD.pdf</a:t>
            </a:r>
            <a:r>
              <a:rPr lang="en-US" sz="2800" dirty="0">
                <a:solidFill>
                  <a:srgbClr val="000000"/>
                </a:solidFill>
                <a:latin typeface="Times New Roman" panose="02020603050405020304" pitchFamily="18" charset="0"/>
              </a:rPr>
              <a:t> </a:t>
            </a:r>
          </a:p>
          <a:p>
            <a:pPr marL="12700" marR="17780" lvl="0">
              <a:lnSpc>
                <a:spcPct val="150000"/>
              </a:lnSpc>
              <a:spcBef>
                <a:spcPts val="100"/>
              </a:spcBef>
            </a:pP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12700" marR="17780" lvl="0">
              <a:lnSpc>
                <a:spcPct val="150000"/>
              </a:lnSpc>
              <a:spcBef>
                <a:spcPts val="100"/>
              </a:spcBef>
            </a:pPr>
            <a:r>
              <a:rPr lang="en-US" sz="2800" dirty="0">
                <a:solidFill>
                  <a:srgbClr val="000000"/>
                </a:solidFill>
                <a:latin typeface="Times New Roman" panose="02020603050405020304" pitchFamily="18" charset="0"/>
              </a:rPr>
              <a:t>Bankrate.com. (2018, November 28). 2018-2019 Tax Brackets | Bankrate.com. Retrieved from </a:t>
            </a:r>
            <a:r>
              <a:rPr lang="en-US" sz="2800" dirty="0">
                <a:solidFill>
                  <a:srgbClr val="000000"/>
                </a:solidFill>
                <a:latin typeface="Times New Roman" panose="02020603050405020304" pitchFamily="18" charset="0"/>
                <a:hlinkClick r:id="rId4"/>
              </a:rPr>
              <a:t>https://www.bankrate.com/finance/taxes/tax-brackets.aspx</a:t>
            </a:r>
            <a:endParaRPr lang="en-US" sz="2800" dirty="0">
              <a:solidFill>
                <a:srgbClr val="000000"/>
              </a:solidFill>
              <a:latin typeface="Times New Roman" panose="02020603050405020304" pitchFamily="18" charset="0"/>
            </a:endParaRPr>
          </a:p>
          <a:p>
            <a:pPr marL="12700" marR="17780" lvl="0">
              <a:lnSpc>
                <a:spcPct val="150000"/>
              </a:lnSpc>
              <a:spcBef>
                <a:spcPts val="100"/>
              </a:spcBef>
            </a:pPr>
            <a:endParaRPr lang="en-US" sz="2800" dirty="0">
              <a:solidFill>
                <a:srgbClr val="000000"/>
              </a:solidFill>
              <a:latin typeface="Times New Roman" panose="02020603050405020304" pitchFamily="18" charset="0"/>
            </a:endParaRPr>
          </a:p>
          <a:p>
            <a:pPr marL="12700" marR="17780" lvl="0">
              <a:lnSpc>
                <a:spcPct val="150000"/>
              </a:lnSpc>
              <a:spcBef>
                <a:spcPts val="100"/>
              </a:spcBef>
            </a:pPr>
            <a:r>
              <a:rPr lang="en-US" sz="2800" dirty="0">
                <a:solidFill>
                  <a:srgbClr val="000000"/>
                </a:solidFill>
                <a:latin typeface="Times New Roman" panose="02020603050405020304" pitchFamily="18" charset="0"/>
              </a:rPr>
              <a:t>Calhoun County Water Association. (n.d.). Calhoun County Water Association. Retrieved from </a:t>
            </a:r>
            <a:r>
              <a:rPr lang="en-US" sz="2800" dirty="0">
                <a:solidFill>
                  <a:srgbClr val="000000"/>
                </a:solidFill>
                <a:latin typeface="Times New Roman" panose="02020603050405020304" pitchFamily="18" charset="0"/>
                <a:hlinkClick r:id="rId5"/>
              </a:rPr>
              <a:t>http://www.calhouncwa.com/rates.htm</a:t>
            </a:r>
            <a:r>
              <a:rPr lang="en-US" sz="2800" dirty="0">
                <a:solidFill>
                  <a:srgbClr val="000000"/>
                </a:solidFill>
                <a:latin typeface="Times New Roman" panose="02020603050405020304" pitchFamily="18" charset="0"/>
              </a:rPr>
              <a:t> </a:t>
            </a:r>
          </a:p>
          <a:p>
            <a:pPr marL="12700" marR="17780" lvl="0">
              <a:lnSpc>
                <a:spcPct val="150000"/>
              </a:lnSpc>
              <a:spcBef>
                <a:spcPts val="100"/>
              </a:spcBef>
            </a:pP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12700" marR="17780" lvl="0">
              <a:lnSpc>
                <a:spcPct val="150000"/>
              </a:lnSpc>
              <a:spcBef>
                <a:spcPts val="100"/>
              </a:spcBef>
            </a:pPr>
            <a:r>
              <a:rPr lang="en-US" sz="2800" i="1" dirty="0">
                <a:solidFill>
                  <a:prstClr val="black"/>
                </a:solidFill>
                <a:latin typeface="Times New Roman" panose="02020603050405020304" pitchFamily="18" charset="0"/>
                <a:cs typeface="Times New Roman" panose="02020603050405020304" pitchFamily="18" charset="0"/>
              </a:rPr>
              <a:t>Hawkes Learning | Products</a:t>
            </a:r>
            <a:r>
              <a:rPr lang="en-US" sz="2800" dirty="0">
                <a:solidFill>
                  <a:prstClr val="black"/>
                </a:solidFill>
                <a:latin typeface="Times New Roman" panose="02020603050405020304" pitchFamily="18" charset="0"/>
                <a:cs typeface="Times New Roman" panose="02020603050405020304" pitchFamily="18" charset="0"/>
              </a:rPr>
              <a:t>. (2024). Hawkeslearning.com. </a:t>
            </a:r>
            <a:r>
              <a:rPr lang="en-US" sz="2800" dirty="0">
                <a:solidFill>
                  <a:prstClr val="black"/>
                </a:solidFill>
                <a:latin typeface="Times New Roman" panose="02020603050405020304" pitchFamily="18" charset="0"/>
                <a:cs typeface="Times New Roman" panose="02020603050405020304" pitchFamily="18" charset="0"/>
                <a:hlinkClick r:id="rId6"/>
              </a:rPr>
              <a:t>https://www.hawkeslearning.com/Products.htm</a:t>
            </a:r>
            <a:r>
              <a:rPr lang="en-US" sz="2800" dirty="0">
                <a:solidFill>
                  <a:prstClr val="black"/>
                </a:solidFill>
                <a:latin typeface="Times New Roman" panose="02020603050405020304" pitchFamily="18" charset="0"/>
                <a:cs typeface="Times New Roman" panose="02020603050405020304" pitchFamily="18" charset="0"/>
              </a:rPr>
              <a:t> </a:t>
            </a:r>
          </a:p>
          <a:p>
            <a:pPr marL="12700" marR="17780" lvl="0">
              <a:lnSpc>
                <a:spcPct val="150000"/>
              </a:lnSpc>
              <a:spcBef>
                <a:spcPts val="100"/>
              </a:spcBef>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163586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ll, basic structure of all living - by Lifeliqe.pptx" id="{754D7DE0-76F5-4038-BFB5-C44995BD9395}" vid="{D8FA2D48-3710-4BE9-9297-60733B848F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E91205D9D91EC46BAFC0B8A3DABE97A" ma:contentTypeVersion="5" ma:contentTypeDescription="Create a new document." ma:contentTypeScope="" ma:versionID="1934813db2c60903f347039ed044985d">
  <xsd:schema xmlns:xsd="http://www.w3.org/2001/XMLSchema" xmlns:xs="http://www.w3.org/2001/XMLSchema" xmlns:p="http://schemas.microsoft.com/office/2006/metadata/properties" xmlns:ns3="53debd3b-0ae3-48db-a01b-9aa893555388" targetNamespace="http://schemas.microsoft.com/office/2006/metadata/properties" ma:root="true" ma:fieldsID="caf208cb760cd4903c279a1550f4e7f9" ns3:_="">
    <xsd:import namespace="53debd3b-0ae3-48db-a01b-9aa89355538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debd3b-0ae3-48db-a01b-9aa8935553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932FE8D-E693-4542-87C9-D2037766393F}">
  <ds:schemaRefs>
    <ds:schemaRef ds:uri="http://schemas.microsoft.com/sharepoint/v3/contenttype/forms"/>
  </ds:schemaRefs>
</ds:datastoreItem>
</file>

<file path=customXml/itemProps2.xml><?xml version="1.0" encoding="utf-8"?>
<ds:datastoreItem xmlns:ds="http://schemas.openxmlformats.org/officeDocument/2006/customXml" ds:itemID="{22228F90-9293-45A8-887B-4908D0E560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debd3b-0ae3-48db-a01b-9aa8935553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038E14-1FE6-484B-B827-5665713BD5BF}">
  <ds:schemaRefs>
    <ds:schemaRef ds:uri="http://schemas.openxmlformats.org/package/2006/metadata/core-properties"/>
    <ds:schemaRef ds:uri="http://purl.org/dc/elements/1.1/"/>
    <ds:schemaRef ds:uri="http://schemas.microsoft.com/office/2006/documentManagement/types"/>
    <ds:schemaRef ds:uri="http://purl.org/dc/terms/"/>
    <ds:schemaRef ds:uri="http://purl.org/dc/dcmitype/"/>
    <ds:schemaRef ds:uri="http://schemas.microsoft.com/office/infopath/2007/PartnerControls"/>
    <ds:schemaRef ds:uri="53debd3b-0ae3-48db-a01b-9aa893555388"/>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Cell, basic structure of all living creatures</Template>
  <TotalTime>0</TotalTime>
  <Words>3731</Words>
  <Application>Microsoft Office PowerPoint</Application>
  <PresentationFormat>Custom</PresentationFormat>
  <Paragraphs>192</Paragraphs>
  <Slides>35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Calibri Light</vt:lpstr>
      <vt:lpstr>Cambria Math</vt:lpstr>
      <vt:lpstr>Source Sans Pro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2024-10-10T16:33:55Z</dcterms:created>
  <dcterms:modified xsi:type="dcterms:W3CDTF">2024-10-11T16:27:25Z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0x010100FE91205D9D91EC46BAFC0B8A3DABE97A</vt:lpwstr>
  </property>
</Properties>
</file>